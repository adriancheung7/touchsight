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League Spartan"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25s</a:t>
            </a:r>
          </a:p>
          <a:p>
            <a:r>
              <a:rPr lang="en-US"/>
              <a:t/>
            </a:r>
          </a:p>
          <a:p>
            <a:r>
              <a:rPr lang="en-US"/>
              <a:t>Lyle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link of the issue, like people underperform because they cant easily use material or smt</a:t>
            </a:r>
          </a:p>
          <a:p>
            <a:r>
              <a:rPr lang="en-US"/>
              <a:t/>
            </a:r>
          </a:p>
          <a:p>
            <a:r>
              <a:rPr lang="en-US"/>
              <a:t/>
            </a:r>
          </a:p>
          <a:p>
            <a:r>
              <a:rPr lang="en-US"/>
              <a:t>maybe explain that tablets and phones have absolute coordinates, but what about laptops?</a:t>
            </a:r>
          </a:p>
          <a:p>
            <a:r>
              <a:rPr lang="en-US"/>
              <a:t/>
            </a:r>
          </a:p>
          <a:p>
            <a:r>
              <a:rPr lang="en-US"/>
              <a:t>35s</a:t>
            </a:r>
          </a:p>
          <a:p>
            <a:r>
              <a:rPr lang="en-US"/>
              <a:t/>
            </a:r>
          </a:p>
          <a:p>
            <a:r>
              <a:rPr lang="en-US"/>
              <a:t>Lyle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Adrian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Adrian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Lyle</a:t>
            </a:r>
          </a:p>
          <a:p>
            <a:r>
              <a:rPr lang="en-US"/>
              <a:t/>
            </a:r>
          </a:p>
          <a:p>
            <a:r>
              <a:rPr lang="en-US"/>
              <a:t>40s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Lyle</a:t>
            </a:r>
          </a:p>
          <a:p>
            <a:r>
              <a:rPr lang="en-US"/>
              <a:t/>
            </a:r>
          </a:p>
          <a:p>
            <a:r>
              <a:rPr lang="en-US"/>
              <a:t>20s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A1 | Appendix slide 1 | Full deck slide 9</a:t>
            </a:r>
          </a:p>
          <a:p>
            <a:r>
              <a:rPr lang="en-US"/>
              <a:t>LIKELY QUESTIONS: Does it work? Have blind people tested it? Where does 73% come from?</a:t>
            </a:r>
          </a:p>
          <a:p>
            <a:r>
              <a:rPr lang="en-US"/>
              <a:t/>
            </a:r>
          </a:p>
          <a:p>
            <a:r>
              <a:rPr lang="en-US"/>
              <a:t>OPENING ANSWER (about 20 seconds): A related study found 73.39% accuracy on a nine-location task after training, compared with 11.1% chance. That supports the underlying idea. We have not tested TouchSight with blind or low-vision users yet, so we are not claiming that result for our app.</a:t>
            </a:r>
          </a:p>
          <a:p>
            <a:r>
              <a:rPr lang="en-US"/>
              <a:t>IF ASKED: Topo-Speech recruited 22 adults and excluded one participant, leaving 21 analyzed. Training included 27 trials, followed by 90 test trials. It encoded height using pitch and horizontal position using timing. TouchSight uses stereo panning horizontally, so this is supporting research, not a direct validation of our implementation. No claim of improved school attainment, automatic skill, or restored vision.</a:t>
            </a:r>
          </a:p>
          <a:p>
            <a:r>
              <a:rPr lang="en-US"/>
              <a:t>SOURCE: Frontiers in Human Neuroscience (2023), The Topo-Speech sensory substitution system as a method of conveying spatial information to the blind and vision impaired. https://www.frontiersin.org/journals/human-neuroscience/articles/10.3389/fnhum.2022.1058093/full</a:t>
            </a:r>
          </a:p>
          <a:p>
            <a:r>
              <a:rPr lang="en-US"/>
              <a:t>PROJECT EVIDENCE: User confirmed on 2026-09-27 that no blind or low-vision people have tried TouchSight.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A2 | Appendix slide 2 | Full deck slide 10</a:t>
            </a:r>
          </a:p>
          <a:p>
            <a:r>
              <a:rPr lang="en-US"/>
              <a:t>LIKELY QUESTIONS: How do the sounds work? How do blind users navigate? Do they need headphones?</a:t>
            </a:r>
          </a:p>
          <a:p>
            <a:r>
              <a:rPr lang="en-US"/>
              <a:t/>
            </a:r>
          </a:p>
          <a:p>
            <a:r>
              <a:rPr lang="en-US"/>
              <a:t>OPENING ANSWER: The two sound cues form a coordinate system: stereo for left and right, pitch for height. Speech names the region. Users can explore continuously or use Tab to jump between regions, then practice with the find-it game.</a:t>
            </a:r>
          </a:p>
          <a:p>
            <a:r>
              <a:rPr lang="en-US"/>
              <a:t>IF ASKED: Enter starts exploration. Arrow keys move, Tab and Shift+Tab select regions, Space explains, W announces location, C returns to center, Q toggles the movement tone, S toggles screen-reader mode, Escape pauses, and ? reads help. F announces the target, plays a three-second location cue during a locked orientation phase, then starts the search. Stereo headphones help separate horizontal positions; a single speaker or one-ear listening reduces this cue. Screen-reader support uses an ARIA live region but has not undergone a broad assistive-technology audit.</a:t>
            </a:r>
          </a:p>
          <a:p>
            <a:r>
              <a:rPr lang="en-US"/>
              <a:t>IMPLEMENTATION EVIDENCE: src/student/audio.ts, useExplorer.ts, Explore.tsx, findIt.ts. Audio uses StereoPannerNode, with pitch from 220 Hz at the bottom to 880 Hz at the top. These are implementation details, not measured usability outcomes.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A3 | Appendix slide 3 | Full deck slide 11</a:t>
            </a:r>
          </a:p>
          <a:p>
            <a:r>
              <a:rPr lang="en-US"/>
              <a:t>LIKELY QUESTIONS: Why not Seeing AI or a screen reader? Is this new?</a:t>
            </a:r>
          </a:p>
          <a:p>
            <a:r>
              <a:rPr lang="en-US"/>
              <a:t/>
            </a:r>
          </a:p>
          <a:p>
            <a:r>
              <a:rPr lang="en-US"/>
              <a:t>OPENING ANSWER: Existing accessibility tools already do valuable work, including image descriptions and photo exploration. Our focus is the workflow around a prepared visual: editable regions, continuous positional sound, a practice game, and a printable version from the same map.</a:t>
            </a:r>
          </a:p>
          <a:p>
            <a:r>
              <a:rPr lang="en-US"/>
              <a:t>IF ASKED: We are not claiming to have invented sensory substitution or to be the first image exploration tool. A screen reader can read a prepared description, and TouchSight can hand announcements to a screen reader. The contribution is our combination and implementation. We would compare task success and user preference before claiming an advantage.</a:t>
            </a:r>
          </a:p>
          <a:p>
            <a:r>
              <a:rPr lang="en-US"/>
              <a:t>SOURCES: Seeing AI official overview, https://www.seeingai.com/ ; Microsoft Accessibility Blog, photo exploration feature, https://blogs.microsoft.com/accessibility/seeing-ai-2/ .</a:t>
            </a:r>
          </a:p>
          <a:p>
            <a:r>
              <a:rPr lang="en-US"/>
              <a:t>PROJECT EVIDENCE: src/teacher/Edit.tsx, exportSvg.ts; src/student/useExplorer.ts, audio.ts.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A4 | Appendix slide 4 | Full deck slide 12</a:t>
            </a:r>
          </a:p>
          <a:p>
            <a:r>
              <a:rPr lang="en-US"/>
              <a:t>LIKELY QUESTIONS: Does it work on any image? Is mapping automatic? How much setup is needed?</a:t>
            </a:r>
          </a:p>
          <a:p>
            <a:r>
              <a:rPr lang="en-US"/>
              <a:t/>
            </a:r>
          </a:p>
          <a:p>
            <a:r>
              <a:rPr lang="en-US"/>
              <a:t>OPENING ANSWER: Yes, users can upload a PNG or JPG and prepare it in the editor. A person traces the regions and supplies labels and explanations, then previews the experience. We have not automated image understanding yet.</a:t>
            </a:r>
          </a:p>
          <a:p>
            <a:r>
              <a:rPr lang="en-US"/>
              <a:t>IF ASKED: The cell example has prepared regions and manually defined associations with its existing printed labels and leader lines. Thin-region hit areas and edge buffers are tuned for that image. New uploads start with no regions. They become explorable after manual mapping. Dense diagrams may need simplification, and an accessible authoring workflow for blind creators needs testing. The 10 MB limit comes from the current uploader. Do not claim every image works well without preparation, or quote a setup speed that has not been measured.</a:t>
            </a:r>
          </a:p>
          <a:p>
            <a:r>
              <a:rPr lang="en-US"/>
              <a:t>IMPLEMENTATION EVIDENCE: src/teacher/Upload.tsx, Edit.tsx; src/student/figureAnnotations.ts, geometry.ts; src/data/figures/animal-cell.json.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A5 | Appendix slide 5 | Full deck slide 13</a:t>
            </a:r>
          </a:p>
          <a:p>
            <a:r>
              <a:rPr lang="en-US"/>
              <a:t>LIKELY QUESTIONS: Is it real or just a mockup? What did you build? What AI did you use? Biggest challenge?</a:t>
            </a:r>
          </a:p>
          <a:p>
            <a:r>
              <a:rPr lang="en-US"/>
              <a:t/>
            </a:r>
          </a:p>
          <a:p>
            <a:r>
              <a:rPr lang="en-US"/>
              <a:t>OPENING ANSWER: We built the interaction from mapped regions to sound, the editing workflow, the find-it game and SVG export. Whisper provides local speech transcription. The answers currently come from prepared content and author explanations, rather than a generative tutor.</a:t>
            </a:r>
          </a:p>
          <a:p>
            <a:r>
              <a:rPr lang="en-US"/>
              <a:t>IF ASKED ABOUT THE STACK: React and TypeScript handle the interface. Point-in-polygon logic detects regions. Web Audio generates tones and stereo position. Browser speech synthesis or a screen reader speaks labels. IndexedDB stores the local data. Transformers.js runs the Whisper model with WebGPU.</a:t>
            </a:r>
          </a:p>
          <a:p>
            <a:r>
              <a:rPr lang="en-US"/>
              <a:t>IF ASKED ABOUT THE CHALLENGE: Turning pointer movement into understandable cues required edge thunks, reduced continuous sound and buffered hit areas around thin cell structures. Synchronizing announcements, audio and locked challenge orientation was another implementation challenge. We separated student exploration and teacher authoring behind shared data types. Do not invent who wrote individual files or claim unaided authorship; explain AI development assistance honestly if asked.</a:t>
            </a:r>
          </a:p>
          <a:p>
            <a:r>
              <a:rPr lang="en-US"/>
              <a:t>IF ASKED ABOUT THE DASHBOARD: It includes seeded profiles and history. The app can record new find-it sessions locally. Seeded history is not user-study evidence.</a:t>
            </a:r>
          </a:p>
          <a:p>
            <a:r>
              <a:rPr lang="en-US"/>
              <a:t>IMPLEMENTATION EVIDENCE: src/student/{audio,geometry,useExplorer,findIt,speechRecognition}.ts; src/data/{ai,answers,db,seed}.ts; src/teacher/{Edit,exportSvg}.tsx/ts; package.json.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A6 | Appendix slide 6 | Full deck slide 14</a:t>
            </a:r>
          </a:p>
          <a:p>
            <a:r>
              <a:rPr lang="en-US"/>
              <a:t>LIKELY QUESTIONS: Does student data leave the device? Is the microphone private? Is it secure?</a:t>
            </a:r>
          </a:p>
          <a:p>
            <a:r>
              <a:rPr lang="en-US"/>
              <a:t/>
            </a:r>
          </a:p>
          <a:p>
            <a:r>
              <a:rPr lang="en-US"/>
              <a:t>OPENING ANSWER: The app keeps images and records in the browser's local database, and Whisper transcribes the microphone recording on the device. There is no application backend for syncing those records. We still need school-grade access controls before deployment on shared devices.</a:t>
            </a:r>
          </a:p>
          <a:p>
            <a:r>
              <a:rPr lang="en-US"/>
              <a:t>IF ASKED: The model and runtime need initial downloads from external hosts. The speech-input code makes a temporary local audio URL and revokes it after transcription. It stops microphone tracks after recording. Browser speech synthesis is separate: the code selects an English voice but does not enforce localService, so an online voice may send spoken text to its provider. We cannot promise that every possible voice configuration is fully offline or private.</a:t>
            </a:r>
          </a:p>
          <a:p>
            <a:r>
              <a:rPr lang="en-US"/>
              <a:t>SECURITY BOUNDARY: Browser-local storage does not imply application-level encryption, authenticated student accounts or protection from another person using the same browser profile. Clearing browser data may remove saved work. A deployment would need a device policy, backup/export decisions, access controls and a privacy review. No claim of FERPA, COPPA or other compliance.</a:t>
            </a:r>
          </a:p>
          <a:p>
            <a:r>
              <a:rPr lang="en-US"/>
              <a:t>IMPLEMENTATION EVIDENCE: src/data/db.ts; src/student/speechRecognition.ts, audio.ts; src/teacher/StudentPage.tsx. This is a code-based description, not a security audit.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A7 | Appendix slide 7 | Full deck slide 15</a:t>
            </a:r>
          </a:p>
          <a:p>
            <a:r>
              <a:rPr lang="en-US"/>
              <a:t>LIKELY QUESTIONS: Any phone or cheap laptop? Does it need Wi-Fi? Is it lightweight or free?</a:t>
            </a:r>
          </a:p>
          <a:p>
            <a:r>
              <a:rPr lang="en-US"/>
              <a:t/>
            </a:r>
          </a:p>
          <a:p>
            <a:r>
              <a:rPr lang="en-US"/>
              <a:t>OPENING ANSWER: Core exploration runs in a laptop browser using ordinary controls. Optional voice transcription needs a downloaded model and compatible WebGPU support, with typing as a fallback. Offline use requires the app and its resources to be available locally.</a:t>
            </a:r>
          </a:p>
          <a:p>
            <a:r>
              <a:rPr lang="en-US"/>
              <a:t>IF ASKED ABOUT OFFLINE: The project can be served locally on a laptop. It has no service worker for an installable offline website. A hosted page is not guaranteed to reopen without internet. Initial model/runtime downloads and the chosen speech voice are additional dependencies. We have not verified every disconnected browser configuration.</a:t>
            </a:r>
          </a:p>
          <a:p>
            <a:r>
              <a:rPr lang="en-US"/>
              <a:t>IF ASKED ABOUT COST: Core exploration needs no specialist tactile display and has no per-question cloud AI service in this implementation. The optional model increases download and processing requirements. Device, hosting, support and tactile-printing costs still exist. No minimum hardware benchmark or universal phone compatibility claim.</a:t>
            </a:r>
          </a:p>
          <a:p>
            <a:r>
              <a:rPr lang="en-US"/>
              <a:t>IMPLEMENTATION EVIDENCE: vite.config.ts, package.json, src/student/speechRecognition.ts, audio.ts, useExplorer.ts. No service-worker registration found in current source.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A8 | Appendix slide 8 | Full deck slide 16</a:t>
            </a:r>
          </a:p>
          <a:p>
            <a:r>
              <a:rPr lang="en-US"/>
              <a:t>LIKELY QUESTIONS: Can a normal printer make braille? How does paper help? Have you tested the tactile output?</a:t>
            </a:r>
          </a:p>
          <a:p>
            <a:r>
              <a:rPr lang="en-US"/>
              <a:t/>
            </a:r>
          </a:p>
          <a:p>
            <a:r>
              <a:rPr lang="en-US"/>
              <a:t>OPENING ANSWER: The same mapped regions become SVG outlines with basic braille labels or a numbered key. A tactile workflow prints on swell paper and uses a heat fuser to raise the lines. A standard print on ordinary paper remains flat.</a:t>
            </a:r>
          </a:p>
          <a:p>
            <a:r>
              <a:rPr lang="en-US"/>
              <a:t>IF ASKED: The exporter uses US Letter dimensions and draws braille dots in millimeters. Its character support covers English letters, numbers and a small set of punctuation. It is not a full braille translation engine and should be reviewed by a qualified tactile-graphics or braille specialist. We do not have evidence of a successful physical tactile print or a blind reader's evaluation. Scale and spacing must be checked in the real print workflow.</a:t>
            </a:r>
          </a:p>
          <a:p>
            <a:r>
              <a:rPr lang="en-US"/>
              <a:t>SOURCES: Perkins School for the Blind, https://www.perkins.org/resource/tips-for-creating-raised-line-images-using-tactile-graphics-machine-piaf-or-swell/ .</a:t>
            </a:r>
          </a:p>
          <a:p>
            <a:r>
              <a:rPr lang="en-US"/>
              <a:t>IMPLEMENTATION EVIDENCE: src/teacher/exportSvg.ts and braille.ts.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A9 | Appendix slide 9 | Full deck slide 17</a:t>
            </a:r>
          </a:p>
          <a:p>
            <a:r>
              <a:rPr lang="en-US"/>
              <a:t>LIKELY QUESTIONS: Only for students? Could it scale? Who would use or pay for it?</a:t>
            </a:r>
          </a:p>
          <a:p>
            <a:r>
              <a:rPr lang="en-US"/>
              <a:t/>
            </a:r>
          </a:p>
          <a:p>
            <a:r>
              <a:rPr lang="en-US"/>
              <a:t>OPENING ANSWER: Education is the first use case because diagrams give us a clear task to test. The same approach could support prepared charts, reference maps and instructions. We would expand with blind and low-vision users after learning which tasks actually help them.</a:t>
            </a:r>
          </a:p>
          <a:p>
            <a:r>
              <a:rPr lang="en-US"/>
              <a:t>IF ASKED ABOUT ADOPTION OR MONEY: A possible route is pilots through educators or accessibility organizations and a reusable library of mapped content. Grants, partnerships or paid preparation/support services are options to investigate, not agreed plans. No customers, signed partnerships, revenue, pricing or demand study have been established. Manual mapping remains a scaling bottleneck. Local-only data also means school-wide distribution and secure synchronization require additional work.</a:t>
            </a:r>
          </a:p>
          <a:p>
            <a:r>
              <a:rPr lang="en-US"/>
              <a:t>IF ASKED WHO IT MAY NOT SUIT: The audio approach depends on usable hearing and may not fit every hearing profile or preference. It does not replace a mobility aid and is not a validated live navigation system. Static reference maps are a possible content type.</a:t>
            </a:r>
          </a:p>
          <a:p>
            <a:r>
              <a:rPr lang="en-US"/>
              <a:t>BASIS: Team's stated wider vision and current reusable Figure/Region data model. The expansion and adoption ideas on this slide are proposals.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A10 | Appendix slide 10 | Full deck slide 18</a:t>
            </a:r>
          </a:p>
          <a:p>
            <a:r>
              <a:rPr lang="en-US"/>
              <a:t>LIKELY QUESTIONS: What is next? Biggest limitation? How will you prove impact?</a:t>
            </a:r>
          </a:p>
          <a:p>
            <a:r>
              <a:rPr lang="en-US"/>
              <a:t/>
            </a:r>
          </a:p>
          <a:p>
            <a:r>
              <a:rPr lang="en-US"/>
              <a:t>OPENING ANSWER: Our next step is a small pilot with blind and low-vision people and accessibility educators. We would measure whether users find targets accurately, how long it takes, and whether the sounds feel comfortable. That feedback should drive the next features.</a:t>
            </a:r>
          </a:p>
          <a:p>
            <a:r>
              <a:rPr lang="en-US"/>
              <a:t>PROPOSED STUDY: Begin with adults and a small set of simple visuals. Teach the cues consistently, then compare TouchSight with an accessible description for the same tasks, balancing task order. Record target accuracy, time, requests for assistance, comfort and author preparation time. Treat this as usability discovery, not a powered efficacy trial. Involving children later requires appropriate consent and oversight.</a:t>
            </a:r>
          </a:p>
          <a:p>
            <a:r>
              <a:rPr lang="en-US"/>
              <a:t>PRIORITIES: Investigate confusing sounds or dense regions first. Test screen readers, hearing differences and device compatibility. Explore automated region/label suggestions with human review. Validate the physical print output. Add secure sharing only after the local workflow proves useful.</a:t>
            </a:r>
          </a:p>
          <a:p>
            <a:r>
              <a:rPr lang="en-US"/>
              <a:t>CURRENT LIMITS: No blind/low-vision user testing, manual mapping, prepared answer coverage, image-specific hit-area tuning, unverified hardware breadth and no school-grade multiuser backend.</a:t>
            </a:r>
          </a:p>
          <a:p>
            <a:r>
              <a:rPr lang="en-US"/>
              <a:t>BASIS: User confirmation and source review. All pilot details and next steps are proposals, not completed 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A11 | Appendix slide 1 | Full deck slide 19</a:t>
            </a:r>
          </a:p>
          <a:p>
            <a:r>
              <a:rPr lang="en-US"/>
              <a:t>LIKELY QUESTIONS: How do you identify a region? What if parts overlap? How do labels connect?</a:t>
            </a:r>
          </a:p>
          <a:p>
            <a:r>
              <a:rPr lang="en-US"/>
              <a:t/>
            </a:r>
          </a:p>
          <a:p>
            <a:r>
              <a:rPr lang="en-US"/>
              <a:t>OPENING ANSWER: We store each traced region as a shape with a label. As the user moves, the app checks which shape contains the cursor. Smaller nested parts take priority, and the cell example has extra buffer space around thin structures so the selection does not flicker.</a:t>
            </a:r>
          </a:p>
          <a:p>
            <a:r>
              <a:rPr lang="en-US"/>
              <a:t>SIMPLE EXAMPLE: The nucleolus sits inside the nucleus. A point can lie inside both shapes, so choosing the smaller matching shape lets the user select the nucleolus. For buffered cell regions, the previous selection can remain active near its edge before the app switches.</a:t>
            </a:r>
          </a:p>
          <a:p>
            <a:r>
              <a:rPr lang="en-US"/>
              <a:t>IF ASKED FOR THE ALGORITHM: pointInPolygon uses a ray-crossing check and includes points directly on an edge. hitTest chooses the smallest matching polygon by area. Cell-specific rules then retain a buffered previous region or choose the nearest buffered region. Ordinary uploads use the polygon check without this cell-specific buffer tuning. Pointer coordinates are mapped back into image coordinates, accounting for scale and letterboxing.</a:t>
            </a:r>
          </a:p>
          <a:p>
            <a:r>
              <a:rPr lang="en-US"/>
              <a:t>LABEL LOGIC: Region IDs connect the selected shape to its stored text. For the animal-cell visual overlay, figureAnnotations.ts also stores prepared label rectangles and leader-line paths. The program highlights the existing label and line using those associations. It does not infer the relationship from image pixels.</a:t>
            </a:r>
          </a:p>
          <a:p>
            <a:r>
              <a:rPr lang="en-US"/>
              <a:t>SOURCE: Read-only inspection of src/student/geometry.ts, figureAnnotations.ts and src/contract/types.ts. No application files were changed.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A12 | Appendix slide 2 | Full deck slide 20</a:t>
            </a:r>
          </a:p>
          <a:p>
            <a:r>
              <a:rPr lang="en-US"/>
              <a:t>LIKELY QUESTIONS: Are sounds random? How do you calculate pitch? What triggers the thunk?</a:t>
            </a:r>
          </a:p>
          <a:p>
            <a:r>
              <a:rPr lang="en-US"/>
              <a:t/>
            </a:r>
          </a:p>
          <a:p>
            <a:r>
              <a:rPr lang="en-US"/>
              <a:t>OPENING ANSWER: The sounds follow a fixed coordinate mapping. Horizontal position sets stereo panning, and vertical position sets pitch. The bottom is 220 hertz, the center is 440 and the top is 880. When the selected region changes, the app adds a thunk and announces the new part.</a:t>
            </a:r>
          </a:p>
          <a:p>
            <a:r>
              <a:rPr lang="en-US"/>
              <a:t>IF ASKED FOR THE MATH: pan = 2x / width - 1, clamped from -1 to +1. pitch = 220 times 4 raised to the power of (1 - y / height), with y / height clamped from 0 to 1. Image y starts at the top, so a smaller y gives a higher pitch. The pitch curve is exponential: halfway up is one octave above the bottom, and the top is another octave higher.</a:t>
            </a:r>
          </a:p>
          <a:p>
            <a:r>
              <a:rPr lang="en-US"/>
              <a:t>IMPLEMENTATION: Web Audio creates an oscillator for pitch, a gain node for volume and a StereoPannerNode for left/right balance. Cursor movement updates the parameters. Region selection is handled separately by geometry, and a changed region triggers feedback. Movement tones fade when movement stops and reduce during speech. Attempting to move beyond the image boundary has its own wall thunk.</a:t>
            </a:r>
          </a:p>
          <a:p>
            <a:r>
              <a:rPr lang="en-US"/>
              <a:t>LIMIT: Pitch encodes height only. It does not replace the horizontal cue when stereo is unavailable. The two cues together supply location, while a stored spoken label supplies identity.</a:t>
            </a:r>
          </a:p>
          <a:p>
            <a:r>
              <a:rPr lang="en-US"/>
              <a:t>SOURCE: Read-only inspection of src/student/audio.ts and useExplorer.ts. The frequencies are calculated from the current implementation, not user-study measurements.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jpe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2.png" Type="http://schemas.openxmlformats.org/officeDocument/2006/relationships/image"/><Relationship Id="rId4" Target="../media/image4.png" Type="http://schemas.openxmlformats.org/officeDocument/2006/relationships/image"/><Relationship Id="rId5"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https://youtu.be/oa5a5AxXpjI" TargetMode="External" Type="http://schemas.openxmlformats.org/officeDocument/2006/relationships/video"/></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5.png" Type="http://schemas.openxmlformats.org/officeDocument/2006/relationships/image"/><Relationship Id="rId4"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864087" y="3742111"/>
            <a:ext cx="10627444" cy="3860744"/>
          </a:xfrm>
          <a:custGeom>
            <a:avLst/>
            <a:gdLst/>
            <a:ahLst/>
            <a:cxnLst/>
            <a:rect r="r" b="b" t="t" l="l"/>
            <a:pathLst>
              <a:path h="3860744" w="10627444">
                <a:moveTo>
                  <a:pt x="0" y="0"/>
                </a:moveTo>
                <a:lnTo>
                  <a:pt x="10627444" y="0"/>
                </a:lnTo>
                <a:lnTo>
                  <a:pt x="10627444" y="3860744"/>
                </a:lnTo>
                <a:lnTo>
                  <a:pt x="0" y="3860744"/>
                </a:lnTo>
                <a:lnTo>
                  <a:pt x="0" y="0"/>
                </a:lnTo>
                <a:close/>
              </a:path>
            </a:pathLst>
          </a:custGeom>
          <a:blipFill>
            <a:blip r:embed="rId4"/>
            <a:stretch>
              <a:fillRect l="-5229" t="0" r="-3823" b="0"/>
            </a:stretch>
          </a:blipFill>
        </p:spPr>
      </p:sp>
      <p:sp>
        <p:nvSpPr>
          <p:cNvPr name="Freeform 4" id="4"/>
          <p:cNvSpPr/>
          <p:nvPr/>
        </p:nvSpPr>
        <p:spPr>
          <a:xfrm flipH="false" flipV="false" rot="0">
            <a:off x="1703709" y="2200620"/>
            <a:ext cx="1406555" cy="1406555"/>
          </a:xfrm>
          <a:custGeom>
            <a:avLst/>
            <a:gdLst/>
            <a:ahLst/>
            <a:cxnLst/>
            <a:rect r="r" b="b" t="t" l="l"/>
            <a:pathLst>
              <a:path h="1406555" w="1406555">
                <a:moveTo>
                  <a:pt x="0" y="0"/>
                </a:moveTo>
                <a:lnTo>
                  <a:pt x="1406555" y="0"/>
                </a:lnTo>
                <a:lnTo>
                  <a:pt x="1406555" y="1406556"/>
                </a:lnTo>
                <a:lnTo>
                  <a:pt x="0" y="1406556"/>
                </a:lnTo>
                <a:lnTo>
                  <a:pt x="0" y="0"/>
                </a:lnTo>
                <a:close/>
              </a:path>
            </a:pathLst>
          </a:custGeom>
          <a:blipFill>
            <a:blip r:embed="rId5">
              <a:alphaModFix amt="75000"/>
            </a:blip>
            <a:stretch>
              <a:fillRect l="0" t="0" r="0" b="0"/>
            </a:stretch>
          </a:blipFill>
        </p:spPr>
      </p:sp>
      <p:sp>
        <p:nvSpPr>
          <p:cNvPr name="Freeform 5" id="5"/>
          <p:cNvSpPr/>
          <p:nvPr/>
        </p:nvSpPr>
        <p:spPr>
          <a:xfrm flipH="false" flipV="false" rot="0">
            <a:off x="2226556" y="2876395"/>
            <a:ext cx="360861" cy="428377"/>
          </a:xfrm>
          <a:custGeom>
            <a:avLst/>
            <a:gdLst/>
            <a:ahLst/>
            <a:cxnLst/>
            <a:rect r="r" b="b" t="t" l="l"/>
            <a:pathLst>
              <a:path h="428377" w="360861">
                <a:moveTo>
                  <a:pt x="0" y="0"/>
                </a:moveTo>
                <a:lnTo>
                  <a:pt x="360861" y="0"/>
                </a:lnTo>
                <a:lnTo>
                  <a:pt x="360861" y="428377"/>
                </a:lnTo>
                <a:lnTo>
                  <a:pt x="0" y="428377"/>
                </a:lnTo>
                <a:lnTo>
                  <a:pt x="0" y="0"/>
                </a:lnTo>
                <a:close/>
              </a:path>
            </a:pathLst>
          </a:custGeom>
          <a:blipFill>
            <a:blip r:embed="rId6">
              <a:alphaModFix amt="75000"/>
            </a:blip>
            <a:stretch>
              <a:fillRect l="-40753" t="-14440" r="-36798" b="-10398"/>
            </a:stretch>
          </a:blipFill>
        </p:spPr>
      </p:sp>
      <p:grpSp>
        <p:nvGrpSpPr>
          <p:cNvPr name="Group 6" id="6"/>
          <p:cNvGrpSpPr/>
          <p:nvPr/>
        </p:nvGrpSpPr>
        <p:grpSpPr>
          <a:xfrm rot="0">
            <a:off x="14586234" y="1454651"/>
            <a:ext cx="2411634" cy="580212"/>
            <a:chOff x="0" y="0"/>
            <a:chExt cx="3215512" cy="773616"/>
          </a:xfrm>
        </p:grpSpPr>
        <p:sp>
          <p:nvSpPr>
            <p:cNvPr name="Freeform 7" id="7"/>
            <p:cNvSpPr/>
            <p:nvPr/>
          </p:nvSpPr>
          <p:spPr>
            <a:xfrm flipH="false" flipV="false" rot="0">
              <a:off x="813965" y="0"/>
              <a:ext cx="773616" cy="773616"/>
            </a:xfrm>
            <a:custGeom>
              <a:avLst/>
              <a:gdLst/>
              <a:ahLst/>
              <a:cxnLst/>
              <a:rect r="r" b="b" t="t" l="l"/>
              <a:pathLst>
                <a:path h="773616" w="773616">
                  <a:moveTo>
                    <a:pt x="0" y="0"/>
                  </a:moveTo>
                  <a:lnTo>
                    <a:pt x="773617" y="0"/>
                  </a:lnTo>
                  <a:lnTo>
                    <a:pt x="773617" y="773616"/>
                  </a:lnTo>
                  <a:lnTo>
                    <a:pt x="0" y="773616"/>
                  </a:lnTo>
                  <a:lnTo>
                    <a:pt x="0" y="0"/>
                  </a:lnTo>
                  <a:close/>
                </a:path>
              </a:pathLst>
            </a:custGeom>
            <a:blipFill>
              <a:blip r:embed="rId7"/>
              <a:stretch>
                <a:fillRect l="0" t="0" r="0" b="0"/>
              </a:stretch>
            </a:blipFill>
          </p:spPr>
        </p:sp>
        <p:sp>
          <p:nvSpPr>
            <p:cNvPr name="Freeform 8" id="8"/>
            <p:cNvSpPr/>
            <p:nvPr/>
          </p:nvSpPr>
          <p:spPr>
            <a:xfrm flipH="false" flipV="false" rot="0">
              <a:off x="1627930" y="0"/>
              <a:ext cx="773616" cy="773616"/>
            </a:xfrm>
            <a:custGeom>
              <a:avLst/>
              <a:gdLst/>
              <a:ahLst/>
              <a:cxnLst/>
              <a:rect r="r" b="b" t="t" l="l"/>
              <a:pathLst>
                <a:path h="773616" w="773616">
                  <a:moveTo>
                    <a:pt x="0" y="0"/>
                  </a:moveTo>
                  <a:lnTo>
                    <a:pt x="773617" y="0"/>
                  </a:lnTo>
                  <a:lnTo>
                    <a:pt x="773617" y="773616"/>
                  </a:lnTo>
                  <a:lnTo>
                    <a:pt x="0" y="773616"/>
                  </a:lnTo>
                  <a:lnTo>
                    <a:pt x="0" y="0"/>
                  </a:lnTo>
                  <a:close/>
                </a:path>
              </a:pathLst>
            </a:custGeom>
            <a:blipFill>
              <a:blip r:embed="rId8"/>
              <a:stretch>
                <a:fillRect l="0" t="0" r="0" b="0"/>
              </a:stretch>
            </a:blipFill>
          </p:spPr>
        </p:sp>
        <p:sp>
          <p:nvSpPr>
            <p:cNvPr name="Freeform 9" id="9"/>
            <p:cNvSpPr/>
            <p:nvPr/>
          </p:nvSpPr>
          <p:spPr>
            <a:xfrm flipH="false" flipV="false" rot="0">
              <a:off x="0" y="0"/>
              <a:ext cx="773616" cy="773616"/>
            </a:xfrm>
            <a:custGeom>
              <a:avLst/>
              <a:gdLst/>
              <a:ahLst/>
              <a:cxnLst/>
              <a:rect r="r" b="b" t="t" l="l"/>
              <a:pathLst>
                <a:path h="773616" w="773616">
                  <a:moveTo>
                    <a:pt x="0" y="0"/>
                  </a:moveTo>
                  <a:lnTo>
                    <a:pt x="773616" y="0"/>
                  </a:lnTo>
                  <a:lnTo>
                    <a:pt x="773616" y="773616"/>
                  </a:lnTo>
                  <a:lnTo>
                    <a:pt x="0" y="773616"/>
                  </a:lnTo>
                  <a:lnTo>
                    <a:pt x="0" y="0"/>
                  </a:lnTo>
                  <a:close/>
                </a:path>
              </a:pathLst>
            </a:custGeom>
            <a:blipFill>
              <a:blip r:embed="rId9"/>
              <a:stretch>
                <a:fillRect l="0" t="0" r="0" b="0"/>
              </a:stretch>
            </a:blipFill>
          </p:spPr>
        </p:sp>
        <p:sp>
          <p:nvSpPr>
            <p:cNvPr name="Freeform 10" id="10"/>
            <p:cNvSpPr/>
            <p:nvPr/>
          </p:nvSpPr>
          <p:spPr>
            <a:xfrm flipH="false" flipV="false" rot="0">
              <a:off x="2441896" y="0"/>
              <a:ext cx="773616" cy="773616"/>
            </a:xfrm>
            <a:custGeom>
              <a:avLst/>
              <a:gdLst/>
              <a:ahLst/>
              <a:cxnLst/>
              <a:rect r="r" b="b" t="t" l="l"/>
              <a:pathLst>
                <a:path h="773616" w="773616">
                  <a:moveTo>
                    <a:pt x="0" y="0"/>
                  </a:moveTo>
                  <a:lnTo>
                    <a:pt x="773616" y="0"/>
                  </a:lnTo>
                  <a:lnTo>
                    <a:pt x="773616" y="773616"/>
                  </a:lnTo>
                  <a:lnTo>
                    <a:pt x="0" y="773616"/>
                  </a:lnTo>
                  <a:lnTo>
                    <a:pt x="0" y="0"/>
                  </a:lnTo>
                  <a:close/>
                </a:path>
              </a:pathLst>
            </a:custGeom>
            <a:blipFill>
              <a:blip r:embed="rId10"/>
              <a:stretch>
                <a:fillRect l="0" t="0" r="0" b="0"/>
              </a:stretch>
            </a:blipFill>
          </p:spPr>
        </p:sp>
      </p:grpSp>
      <p:grpSp>
        <p:nvGrpSpPr>
          <p:cNvPr name="Group 11" id="11"/>
          <p:cNvGrpSpPr/>
          <p:nvPr/>
        </p:nvGrpSpPr>
        <p:grpSpPr>
          <a:xfrm rot="0">
            <a:off x="13452607" y="7865895"/>
            <a:ext cx="4123625" cy="2225017"/>
            <a:chOff x="0" y="0"/>
            <a:chExt cx="1086058" cy="586013"/>
          </a:xfrm>
        </p:grpSpPr>
        <p:sp>
          <p:nvSpPr>
            <p:cNvPr name="Freeform 12" id="12"/>
            <p:cNvSpPr/>
            <p:nvPr/>
          </p:nvSpPr>
          <p:spPr>
            <a:xfrm flipH="false" flipV="false" rot="0">
              <a:off x="0" y="0"/>
              <a:ext cx="1086058" cy="586013"/>
            </a:xfrm>
            <a:custGeom>
              <a:avLst/>
              <a:gdLst/>
              <a:ahLst/>
              <a:cxnLst/>
              <a:rect r="r" b="b" t="t" l="l"/>
              <a:pathLst>
                <a:path h="586013" w="1086058">
                  <a:moveTo>
                    <a:pt x="46936" y="0"/>
                  </a:moveTo>
                  <a:lnTo>
                    <a:pt x="1039121" y="0"/>
                  </a:lnTo>
                  <a:cubicBezTo>
                    <a:pt x="1065044" y="0"/>
                    <a:pt x="1086058" y="21014"/>
                    <a:pt x="1086058" y="46936"/>
                  </a:cubicBezTo>
                  <a:lnTo>
                    <a:pt x="1086058" y="539076"/>
                  </a:lnTo>
                  <a:cubicBezTo>
                    <a:pt x="1086058" y="564999"/>
                    <a:pt x="1065044" y="586013"/>
                    <a:pt x="1039121" y="586013"/>
                  </a:cubicBezTo>
                  <a:lnTo>
                    <a:pt x="46936" y="586013"/>
                  </a:lnTo>
                  <a:cubicBezTo>
                    <a:pt x="34488" y="586013"/>
                    <a:pt x="22550" y="581068"/>
                    <a:pt x="13747" y="572265"/>
                  </a:cubicBezTo>
                  <a:cubicBezTo>
                    <a:pt x="4945" y="563463"/>
                    <a:pt x="0" y="551525"/>
                    <a:pt x="0" y="539076"/>
                  </a:cubicBezTo>
                  <a:lnTo>
                    <a:pt x="0" y="46936"/>
                  </a:lnTo>
                  <a:cubicBezTo>
                    <a:pt x="0" y="21014"/>
                    <a:pt x="21014" y="0"/>
                    <a:pt x="46936" y="0"/>
                  </a:cubicBezTo>
                  <a:close/>
                </a:path>
              </a:pathLst>
            </a:custGeom>
            <a:solidFill>
              <a:srgbClr val="F0F4FA"/>
            </a:solidFill>
          </p:spPr>
        </p:sp>
        <p:sp>
          <p:nvSpPr>
            <p:cNvPr name="TextBox 13" id="13"/>
            <p:cNvSpPr txBox="true"/>
            <p:nvPr/>
          </p:nvSpPr>
          <p:spPr>
            <a:xfrm>
              <a:off x="0" y="9525"/>
              <a:ext cx="1086058" cy="576488"/>
            </a:xfrm>
            <a:prstGeom prst="rect">
              <a:avLst/>
            </a:prstGeom>
          </p:spPr>
          <p:txBody>
            <a:bodyPr anchor="ctr" rtlCol="false" tIns="50800" lIns="50800" bIns="50800" rIns="50800"/>
            <a:lstStyle/>
            <a:p>
              <a:pPr algn="ctr">
                <a:lnSpc>
                  <a:spcPts val="1760"/>
                </a:lnSpc>
              </a:pPr>
            </a:p>
          </p:txBody>
        </p:sp>
      </p:grpSp>
      <p:grpSp>
        <p:nvGrpSpPr>
          <p:cNvPr name="Group 14" id="14"/>
          <p:cNvGrpSpPr/>
          <p:nvPr/>
        </p:nvGrpSpPr>
        <p:grpSpPr>
          <a:xfrm rot="0">
            <a:off x="15267029" y="8239410"/>
            <a:ext cx="2048994" cy="1458937"/>
            <a:chOff x="0" y="0"/>
            <a:chExt cx="1697908" cy="1208955"/>
          </a:xfrm>
        </p:grpSpPr>
        <p:sp>
          <p:nvSpPr>
            <p:cNvPr name="Freeform 15" id="15"/>
            <p:cNvSpPr/>
            <p:nvPr/>
          </p:nvSpPr>
          <p:spPr>
            <a:xfrm flipH="false" flipV="false" rot="0">
              <a:off x="0" y="0"/>
              <a:ext cx="1697908" cy="1208955"/>
            </a:xfrm>
            <a:custGeom>
              <a:avLst/>
              <a:gdLst/>
              <a:ahLst/>
              <a:cxnLst/>
              <a:rect r="r" b="b" t="t" l="l"/>
              <a:pathLst>
                <a:path h="1208955" w="1697908">
                  <a:moveTo>
                    <a:pt x="113352" y="0"/>
                  </a:moveTo>
                  <a:lnTo>
                    <a:pt x="1584556" y="0"/>
                  </a:lnTo>
                  <a:cubicBezTo>
                    <a:pt x="1614619" y="0"/>
                    <a:pt x="1643451" y="11942"/>
                    <a:pt x="1664708" y="33200"/>
                  </a:cubicBezTo>
                  <a:cubicBezTo>
                    <a:pt x="1685966" y="54458"/>
                    <a:pt x="1697908" y="83289"/>
                    <a:pt x="1697908" y="113352"/>
                  </a:cubicBezTo>
                  <a:lnTo>
                    <a:pt x="1697908" y="1095603"/>
                  </a:lnTo>
                  <a:cubicBezTo>
                    <a:pt x="1697908" y="1158205"/>
                    <a:pt x="1647159" y="1208955"/>
                    <a:pt x="1584556" y="1208955"/>
                  </a:cubicBezTo>
                  <a:lnTo>
                    <a:pt x="113352" y="1208955"/>
                  </a:lnTo>
                  <a:cubicBezTo>
                    <a:pt x="83289" y="1208955"/>
                    <a:pt x="54458" y="1197012"/>
                    <a:pt x="33200" y="1175755"/>
                  </a:cubicBezTo>
                  <a:cubicBezTo>
                    <a:pt x="11942" y="1154497"/>
                    <a:pt x="0" y="1125666"/>
                    <a:pt x="0" y="1095603"/>
                  </a:cubicBezTo>
                  <a:lnTo>
                    <a:pt x="0" y="113352"/>
                  </a:lnTo>
                  <a:cubicBezTo>
                    <a:pt x="0" y="50749"/>
                    <a:pt x="50749" y="0"/>
                    <a:pt x="113352" y="0"/>
                  </a:cubicBezTo>
                  <a:close/>
                </a:path>
              </a:pathLst>
            </a:custGeom>
            <a:solidFill>
              <a:srgbClr val="D4DCE9"/>
            </a:solidFill>
          </p:spPr>
        </p:sp>
        <p:sp>
          <p:nvSpPr>
            <p:cNvPr name="TextBox 16" id="16"/>
            <p:cNvSpPr txBox="true"/>
            <p:nvPr/>
          </p:nvSpPr>
          <p:spPr>
            <a:xfrm>
              <a:off x="0" y="9525"/>
              <a:ext cx="1697908" cy="1199430"/>
            </a:xfrm>
            <a:prstGeom prst="rect">
              <a:avLst/>
            </a:prstGeom>
          </p:spPr>
          <p:txBody>
            <a:bodyPr anchor="ctr" rtlCol="false" tIns="50800" lIns="50800" bIns="50800" rIns="50800"/>
            <a:lstStyle/>
            <a:p>
              <a:pPr algn="ctr">
                <a:lnSpc>
                  <a:spcPts val="1760"/>
                </a:lnSpc>
              </a:pPr>
            </a:p>
          </p:txBody>
        </p:sp>
      </p:grpSp>
      <p:grpSp>
        <p:nvGrpSpPr>
          <p:cNvPr name="Group 17" id="17"/>
          <p:cNvGrpSpPr/>
          <p:nvPr/>
        </p:nvGrpSpPr>
        <p:grpSpPr>
          <a:xfrm rot="0">
            <a:off x="13741203" y="8239410"/>
            <a:ext cx="1383136" cy="138313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0" r="0" b="0"/>
              </a:stretch>
            </a:blipFill>
          </p:spPr>
        </p:sp>
      </p:grpSp>
      <p:grpSp>
        <p:nvGrpSpPr>
          <p:cNvPr name="Group 19" id="19"/>
          <p:cNvGrpSpPr/>
          <p:nvPr/>
        </p:nvGrpSpPr>
        <p:grpSpPr>
          <a:xfrm rot="0">
            <a:off x="13727009" y="5780255"/>
            <a:ext cx="3574820" cy="1458937"/>
            <a:chOff x="0" y="0"/>
            <a:chExt cx="4766427" cy="1945249"/>
          </a:xfrm>
        </p:grpSpPr>
        <p:grpSp>
          <p:nvGrpSpPr>
            <p:cNvPr name="Group 20" id="20"/>
            <p:cNvGrpSpPr/>
            <p:nvPr/>
          </p:nvGrpSpPr>
          <p:grpSpPr>
            <a:xfrm rot="0">
              <a:off x="2034435" y="0"/>
              <a:ext cx="2731992" cy="1945249"/>
              <a:chOff x="0" y="0"/>
              <a:chExt cx="1697908" cy="1208955"/>
            </a:xfrm>
          </p:grpSpPr>
          <p:sp>
            <p:nvSpPr>
              <p:cNvPr name="Freeform 21" id="21"/>
              <p:cNvSpPr/>
              <p:nvPr/>
            </p:nvSpPr>
            <p:spPr>
              <a:xfrm flipH="false" flipV="false" rot="0">
                <a:off x="0" y="0"/>
                <a:ext cx="1697908" cy="1208955"/>
              </a:xfrm>
              <a:custGeom>
                <a:avLst/>
                <a:gdLst/>
                <a:ahLst/>
                <a:cxnLst/>
                <a:rect r="r" b="b" t="t" l="l"/>
                <a:pathLst>
                  <a:path h="1208955" w="1697908">
                    <a:moveTo>
                      <a:pt x="113352" y="0"/>
                    </a:moveTo>
                    <a:lnTo>
                      <a:pt x="1584556" y="0"/>
                    </a:lnTo>
                    <a:cubicBezTo>
                      <a:pt x="1614619" y="0"/>
                      <a:pt x="1643451" y="11942"/>
                      <a:pt x="1664708" y="33200"/>
                    </a:cubicBezTo>
                    <a:cubicBezTo>
                      <a:pt x="1685966" y="54458"/>
                      <a:pt x="1697908" y="83289"/>
                      <a:pt x="1697908" y="113352"/>
                    </a:cubicBezTo>
                    <a:lnTo>
                      <a:pt x="1697908" y="1095603"/>
                    </a:lnTo>
                    <a:cubicBezTo>
                      <a:pt x="1697908" y="1158205"/>
                      <a:pt x="1647159" y="1208955"/>
                      <a:pt x="1584556" y="1208955"/>
                    </a:cubicBezTo>
                    <a:lnTo>
                      <a:pt x="113352" y="1208955"/>
                    </a:lnTo>
                    <a:cubicBezTo>
                      <a:pt x="83289" y="1208955"/>
                      <a:pt x="54458" y="1197012"/>
                      <a:pt x="33200" y="1175755"/>
                    </a:cubicBezTo>
                    <a:cubicBezTo>
                      <a:pt x="11942" y="1154497"/>
                      <a:pt x="0" y="1125666"/>
                      <a:pt x="0" y="1095603"/>
                    </a:cubicBezTo>
                    <a:lnTo>
                      <a:pt x="0" y="113352"/>
                    </a:lnTo>
                    <a:cubicBezTo>
                      <a:pt x="0" y="50749"/>
                      <a:pt x="50749" y="0"/>
                      <a:pt x="113352" y="0"/>
                    </a:cubicBezTo>
                    <a:close/>
                  </a:path>
                </a:pathLst>
              </a:custGeom>
              <a:solidFill>
                <a:srgbClr val="D4DCE9"/>
              </a:solidFill>
            </p:spPr>
          </p:sp>
          <p:sp>
            <p:nvSpPr>
              <p:cNvPr name="TextBox 22" id="22"/>
              <p:cNvSpPr txBox="true"/>
              <p:nvPr/>
            </p:nvSpPr>
            <p:spPr>
              <a:xfrm>
                <a:off x="0" y="9525"/>
                <a:ext cx="1697908" cy="1199430"/>
              </a:xfrm>
              <a:prstGeom prst="rect">
                <a:avLst/>
              </a:prstGeom>
            </p:spPr>
            <p:txBody>
              <a:bodyPr anchor="ctr" rtlCol="false" tIns="50800" lIns="50800" bIns="50800" rIns="50800"/>
              <a:lstStyle/>
              <a:p>
                <a:pPr algn="ctr">
                  <a:lnSpc>
                    <a:spcPts val="1760"/>
                  </a:lnSpc>
                </a:pPr>
              </a:p>
            </p:txBody>
          </p:sp>
        </p:grpSp>
        <p:grpSp>
          <p:nvGrpSpPr>
            <p:cNvPr name="Group 23" id="23"/>
            <p:cNvGrpSpPr/>
            <p:nvPr/>
          </p:nvGrpSpPr>
          <p:grpSpPr>
            <a:xfrm rot="0">
              <a:off x="0" y="0"/>
              <a:ext cx="1844181" cy="184418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4712" t="0" r="-4712" b="0"/>
                </a:stretch>
              </a:blipFill>
            </p:spPr>
          </p:sp>
        </p:grpSp>
        <p:sp>
          <p:nvSpPr>
            <p:cNvPr name="TextBox 25" id="25"/>
            <p:cNvSpPr txBox="true"/>
            <p:nvPr/>
          </p:nvSpPr>
          <p:spPr>
            <a:xfrm rot="0">
              <a:off x="2278227" y="392712"/>
              <a:ext cx="2244408" cy="1246504"/>
            </a:xfrm>
            <a:prstGeom prst="rect">
              <a:avLst/>
            </a:prstGeom>
          </p:spPr>
          <p:txBody>
            <a:bodyPr anchor="t" rtlCol="false" tIns="0" lIns="0" bIns="0" rIns="0">
              <a:spAutoFit/>
            </a:bodyPr>
            <a:lstStyle/>
            <a:p>
              <a:pPr algn="l">
                <a:lnSpc>
                  <a:spcPts val="3629"/>
                </a:lnSpc>
              </a:pPr>
              <a:r>
                <a:rPr lang="en-US" sz="3299" b="true">
                  <a:solidFill>
                    <a:srgbClr val="1A2F63"/>
                  </a:solidFill>
                  <a:latin typeface="League Spartan"/>
                  <a:ea typeface="League Spartan"/>
                  <a:cs typeface="League Spartan"/>
                  <a:sym typeface="League Spartan"/>
                </a:rPr>
                <a:t>Adrian </a:t>
              </a:r>
            </a:p>
            <a:p>
              <a:pPr algn="l">
                <a:lnSpc>
                  <a:spcPts val="3629"/>
                </a:lnSpc>
                <a:spcBef>
                  <a:spcPct val="0"/>
                </a:spcBef>
              </a:pPr>
              <a:r>
                <a:rPr lang="en-US" b="true" sz="3299">
                  <a:solidFill>
                    <a:srgbClr val="0263FA"/>
                  </a:solidFill>
                  <a:latin typeface="League Spartan"/>
                  <a:ea typeface="League Spartan"/>
                  <a:cs typeface="League Spartan"/>
                  <a:sym typeface="League Spartan"/>
                </a:rPr>
                <a:t>Cheung</a:t>
              </a:r>
            </a:p>
          </p:txBody>
        </p:sp>
      </p:grpSp>
      <p:grpSp>
        <p:nvGrpSpPr>
          <p:cNvPr name="Group 26" id="26"/>
          <p:cNvGrpSpPr/>
          <p:nvPr/>
        </p:nvGrpSpPr>
        <p:grpSpPr>
          <a:xfrm rot="0">
            <a:off x="13741203" y="3285722"/>
            <a:ext cx="3735148" cy="1383136"/>
            <a:chOff x="0" y="0"/>
            <a:chExt cx="4980197" cy="1844181"/>
          </a:xfrm>
        </p:grpSpPr>
        <p:grpSp>
          <p:nvGrpSpPr>
            <p:cNvPr name="Group 27" id="27"/>
            <p:cNvGrpSpPr/>
            <p:nvPr/>
          </p:nvGrpSpPr>
          <p:grpSpPr>
            <a:xfrm rot="0">
              <a:off x="2034435" y="297761"/>
              <a:ext cx="2731992" cy="1248660"/>
              <a:chOff x="0" y="0"/>
              <a:chExt cx="1697908" cy="776031"/>
            </a:xfrm>
          </p:grpSpPr>
          <p:sp>
            <p:nvSpPr>
              <p:cNvPr name="Freeform 28" id="28"/>
              <p:cNvSpPr/>
              <p:nvPr/>
            </p:nvSpPr>
            <p:spPr>
              <a:xfrm flipH="false" flipV="false" rot="0">
                <a:off x="0" y="0"/>
                <a:ext cx="1697908" cy="776031"/>
              </a:xfrm>
              <a:custGeom>
                <a:avLst/>
                <a:gdLst/>
                <a:ahLst/>
                <a:cxnLst/>
                <a:rect r="r" b="b" t="t" l="l"/>
                <a:pathLst>
                  <a:path h="776031" w="1697908">
                    <a:moveTo>
                      <a:pt x="113352" y="0"/>
                    </a:moveTo>
                    <a:lnTo>
                      <a:pt x="1584556" y="0"/>
                    </a:lnTo>
                    <a:cubicBezTo>
                      <a:pt x="1614619" y="0"/>
                      <a:pt x="1643451" y="11942"/>
                      <a:pt x="1664708" y="33200"/>
                    </a:cubicBezTo>
                    <a:cubicBezTo>
                      <a:pt x="1685966" y="54458"/>
                      <a:pt x="1697908" y="83289"/>
                      <a:pt x="1697908" y="113352"/>
                    </a:cubicBezTo>
                    <a:lnTo>
                      <a:pt x="1697908" y="662679"/>
                    </a:lnTo>
                    <a:cubicBezTo>
                      <a:pt x="1697908" y="725281"/>
                      <a:pt x="1647159" y="776031"/>
                      <a:pt x="1584556" y="776031"/>
                    </a:cubicBezTo>
                    <a:lnTo>
                      <a:pt x="113352" y="776031"/>
                    </a:lnTo>
                    <a:cubicBezTo>
                      <a:pt x="50749" y="776031"/>
                      <a:pt x="0" y="725281"/>
                      <a:pt x="0" y="662679"/>
                    </a:cubicBezTo>
                    <a:lnTo>
                      <a:pt x="0" y="113352"/>
                    </a:lnTo>
                    <a:cubicBezTo>
                      <a:pt x="0" y="50749"/>
                      <a:pt x="50749" y="0"/>
                      <a:pt x="113352" y="0"/>
                    </a:cubicBezTo>
                    <a:close/>
                  </a:path>
                </a:pathLst>
              </a:custGeom>
              <a:solidFill>
                <a:srgbClr val="D4DCE9"/>
              </a:solidFill>
            </p:spPr>
          </p:sp>
          <p:sp>
            <p:nvSpPr>
              <p:cNvPr name="TextBox 29" id="29"/>
              <p:cNvSpPr txBox="true"/>
              <p:nvPr/>
            </p:nvSpPr>
            <p:spPr>
              <a:xfrm>
                <a:off x="0" y="9525"/>
                <a:ext cx="1697908" cy="766506"/>
              </a:xfrm>
              <a:prstGeom prst="rect">
                <a:avLst/>
              </a:prstGeom>
            </p:spPr>
            <p:txBody>
              <a:bodyPr anchor="ctr" rtlCol="false" tIns="50800" lIns="50800" bIns="50800" rIns="50800"/>
              <a:lstStyle/>
              <a:p>
                <a:pPr algn="ctr">
                  <a:lnSpc>
                    <a:spcPts val="1760"/>
                  </a:lnSpc>
                </a:pPr>
              </a:p>
            </p:txBody>
          </p:sp>
        </p:grpSp>
        <p:grpSp>
          <p:nvGrpSpPr>
            <p:cNvPr name="Group 30" id="30"/>
            <p:cNvGrpSpPr/>
            <p:nvPr/>
          </p:nvGrpSpPr>
          <p:grpSpPr>
            <a:xfrm rot="0">
              <a:off x="0" y="0"/>
              <a:ext cx="1844181" cy="1844181"/>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0" t="0" r="0" b="0"/>
                </a:stretch>
              </a:blipFill>
            </p:spPr>
          </p:sp>
        </p:grpSp>
        <p:sp>
          <p:nvSpPr>
            <p:cNvPr name="TextBox 32" id="32"/>
            <p:cNvSpPr txBox="true"/>
            <p:nvPr/>
          </p:nvSpPr>
          <p:spPr>
            <a:xfrm rot="0">
              <a:off x="1820665" y="617926"/>
              <a:ext cx="3159532" cy="636904"/>
            </a:xfrm>
            <a:prstGeom prst="rect">
              <a:avLst/>
            </a:prstGeom>
          </p:spPr>
          <p:txBody>
            <a:bodyPr anchor="t" rtlCol="false" tIns="0" lIns="0" bIns="0" rIns="0">
              <a:spAutoFit/>
            </a:bodyPr>
            <a:lstStyle/>
            <a:p>
              <a:pPr algn="ctr">
                <a:lnSpc>
                  <a:spcPts val="3629"/>
                </a:lnSpc>
                <a:spcBef>
                  <a:spcPct val="0"/>
                </a:spcBef>
              </a:pPr>
              <a:r>
                <a:rPr lang="en-US" b="true" sz="3299">
                  <a:solidFill>
                    <a:srgbClr val="000000"/>
                  </a:solidFill>
                  <a:latin typeface="League Spartan"/>
                  <a:ea typeface="League Spartan"/>
                  <a:cs typeface="League Spartan"/>
                  <a:sym typeface="League Spartan"/>
                </a:rPr>
                <a:t>Lyle </a:t>
              </a:r>
              <a:r>
                <a:rPr lang="en-US" b="true" sz="3299">
                  <a:solidFill>
                    <a:srgbClr val="0263FA"/>
                  </a:solidFill>
                  <a:latin typeface="League Spartan"/>
                  <a:ea typeface="League Spartan"/>
                  <a:cs typeface="League Spartan"/>
                  <a:sym typeface="League Spartan"/>
                </a:rPr>
                <a:t>Lo</a:t>
              </a:r>
            </a:p>
          </p:txBody>
        </p:sp>
      </p:grpSp>
      <p:sp>
        <p:nvSpPr>
          <p:cNvPr name="TextBox 33" id="33"/>
          <p:cNvSpPr txBox="true"/>
          <p:nvPr/>
        </p:nvSpPr>
        <p:spPr>
          <a:xfrm rot="0">
            <a:off x="3803737" y="2749271"/>
            <a:ext cx="8426172" cy="720725"/>
          </a:xfrm>
          <a:prstGeom prst="rect">
            <a:avLst/>
          </a:prstGeom>
        </p:spPr>
        <p:txBody>
          <a:bodyPr anchor="t" rtlCol="false" tIns="0" lIns="0" bIns="0" rIns="0">
            <a:spAutoFit/>
          </a:bodyPr>
          <a:lstStyle/>
          <a:p>
            <a:pPr algn="ctr">
              <a:lnSpc>
                <a:spcPts val="5500"/>
              </a:lnSpc>
              <a:spcBef>
                <a:spcPct val="0"/>
              </a:spcBef>
            </a:pPr>
            <a:r>
              <a:rPr lang="en-US" b="true" sz="5000">
                <a:solidFill>
                  <a:srgbClr val="1A2F63">
                    <a:alpha val="49804"/>
                  </a:srgbClr>
                </a:solidFill>
                <a:latin typeface="League Spartan"/>
                <a:ea typeface="League Spartan"/>
                <a:cs typeface="League Spartan"/>
                <a:sym typeface="League Spartan"/>
              </a:rPr>
              <a:t>HelloHacks 2026 Team 17</a:t>
            </a:r>
          </a:p>
        </p:txBody>
      </p:sp>
      <p:sp>
        <p:nvSpPr>
          <p:cNvPr name="TextBox 34" id="34"/>
          <p:cNvSpPr txBox="true"/>
          <p:nvPr/>
        </p:nvSpPr>
        <p:spPr>
          <a:xfrm rot="0">
            <a:off x="15453624" y="8541088"/>
            <a:ext cx="1675805" cy="927735"/>
          </a:xfrm>
          <a:prstGeom prst="rect">
            <a:avLst/>
          </a:prstGeom>
        </p:spPr>
        <p:txBody>
          <a:bodyPr anchor="t" rtlCol="false" tIns="0" lIns="0" bIns="0" rIns="0">
            <a:spAutoFit/>
          </a:bodyPr>
          <a:lstStyle/>
          <a:p>
            <a:pPr algn="l">
              <a:lnSpc>
                <a:spcPts val="3629"/>
              </a:lnSpc>
            </a:pPr>
            <a:r>
              <a:rPr lang="en-US" sz="3299" b="true">
                <a:solidFill>
                  <a:srgbClr val="1A2F63"/>
                </a:solidFill>
                <a:latin typeface="League Spartan"/>
                <a:ea typeface="League Spartan"/>
                <a:cs typeface="League Spartan"/>
                <a:sym typeface="League Spartan"/>
              </a:rPr>
              <a:t>Jayden </a:t>
            </a:r>
          </a:p>
          <a:p>
            <a:pPr algn="l">
              <a:lnSpc>
                <a:spcPts val="3629"/>
              </a:lnSpc>
              <a:spcBef>
                <a:spcPct val="0"/>
              </a:spcBef>
            </a:pPr>
            <a:r>
              <a:rPr lang="en-US" b="true" sz="3299">
                <a:solidFill>
                  <a:srgbClr val="0263FA"/>
                </a:solidFill>
                <a:latin typeface="League Spartan"/>
                <a:ea typeface="League Spartan"/>
                <a:cs typeface="League Spartan"/>
                <a:sym typeface="League Spartan"/>
              </a:rPr>
              <a:t>Tsai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63570"/>
          </a:xfrm>
          <a:custGeom>
            <a:avLst/>
            <a:gdLst/>
            <a:ahLst/>
            <a:cxnLst/>
            <a:rect r="r" b="b" t="t" l="l"/>
            <a:pathLst>
              <a:path h="10263570" w="18288000">
                <a:moveTo>
                  <a:pt x="0" y="0"/>
                </a:moveTo>
                <a:lnTo>
                  <a:pt x="18288000" y="0"/>
                </a:lnTo>
                <a:lnTo>
                  <a:pt x="18288000" y="10263570"/>
                </a:lnTo>
                <a:lnTo>
                  <a:pt x="0" y="10263570"/>
                </a:lnTo>
                <a:lnTo>
                  <a:pt x="0" y="0"/>
                </a:lnTo>
                <a:close/>
              </a:path>
            </a:pathLst>
          </a:custGeom>
          <a:blipFill>
            <a:blip r:embed="rId3"/>
            <a:stretch>
              <a:fillRect l="0" t="-169" r="0" b="-169"/>
            </a:stretch>
          </a:blipFill>
        </p:spPr>
      </p:sp>
      <p:sp>
        <p:nvSpPr>
          <p:cNvPr name="Freeform 3" id="3"/>
          <p:cNvSpPr/>
          <p:nvPr/>
        </p:nvSpPr>
        <p:spPr>
          <a:xfrm flipH="false" flipV="false" rot="0">
            <a:off x="1066800" y="1323769"/>
            <a:ext cx="763756" cy="794646"/>
          </a:xfrm>
          <a:custGeom>
            <a:avLst/>
            <a:gdLst/>
            <a:ahLst/>
            <a:cxnLst/>
            <a:rect r="r" b="b" t="t" l="l"/>
            <a:pathLst>
              <a:path h="794646" w="763756">
                <a:moveTo>
                  <a:pt x="0" y="0"/>
                </a:moveTo>
                <a:lnTo>
                  <a:pt x="763756" y="0"/>
                </a:lnTo>
                <a:lnTo>
                  <a:pt x="763756" y="794645"/>
                </a:lnTo>
                <a:lnTo>
                  <a:pt x="0" y="794645"/>
                </a:lnTo>
                <a:lnTo>
                  <a:pt x="0" y="0"/>
                </a:lnTo>
                <a:close/>
              </a:path>
            </a:pathLst>
          </a:custGeom>
          <a:blipFill>
            <a:blip r:embed="rId4"/>
            <a:stretch>
              <a:fillRect l="-7797" t="0" r="-28182" b="-9086"/>
            </a:stretch>
          </a:blipFill>
        </p:spPr>
      </p:sp>
      <p:grpSp>
        <p:nvGrpSpPr>
          <p:cNvPr name="Group 4" id="4"/>
          <p:cNvGrpSpPr/>
          <p:nvPr/>
        </p:nvGrpSpPr>
        <p:grpSpPr>
          <a:xfrm rot="-5642505">
            <a:off x="2082723" y="1787774"/>
            <a:ext cx="311194" cy="581634"/>
            <a:chOff x="0" y="0"/>
            <a:chExt cx="115996" cy="216801"/>
          </a:xfrm>
        </p:grpSpPr>
        <p:sp>
          <p:nvSpPr>
            <p:cNvPr name="Freeform 5" id="5"/>
            <p:cNvSpPr/>
            <p:nvPr/>
          </p:nvSpPr>
          <p:spPr>
            <a:xfrm flipH="false" flipV="false" rot="0">
              <a:off x="0" y="0"/>
              <a:ext cx="115996" cy="216801"/>
            </a:xfrm>
            <a:custGeom>
              <a:avLst/>
              <a:gdLst/>
              <a:ahLst/>
              <a:cxnLst/>
              <a:rect r="r" b="b" t="t" l="l"/>
              <a:pathLst>
                <a:path h="216801" w="115996">
                  <a:moveTo>
                    <a:pt x="57998" y="0"/>
                  </a:moveTo>
                  <a:lnTo>
                    <a:pt x="115996" y="216801"/>
                  </a:lnTo>
                  <a:lnTo>
                    <a:pt x="0" y="216801"/>
                  </a:lnTo>
                  <a:lnTo>
                    <a:pt x="57998" y="0"/>
                  </a:lnTo>
                  <a:close/>
                </a:path>
              </a:pathLst>
            </a:custGeom>
            <a:solidFill>
              <a:srgbClr val="E0ECFE"/>
            </a:solidFill>
          </p:spPr>
        </p:sp>
        <p:sp>
          <p:nvSpPr>
            <p:cNvPr name="TextBox 6" id="6"/>
            <p:cNvSpPr txBox="true"/>
            <p:nvPr/>
          </p:nvSpPr>
          <p:spPr>
            <a:xfrm>
              <a:off x="18124" y="110183"/>
              <a:ext cx="79747" cy="91133"/>
            </a:xfrm>
            <a:prstGeom prst="rect">
              <a:avLst/>
            </a:prstGeom>
          </p:spPr>
          <p:txBody>
            <a:bodyPr anchor="ctr" rtlCol="false" tIns="50800" lIns="50800" bIns="50800" rIns="50800"/>
            <a:lstStyle/>
            <a:p>
              <a:pPr algn="ctr">
                <a:lnSpc>
                  <a:spcPts val="1760"/>
                </a:lnSpc>
              </a:pPr>
            </a:p>
          </p:txBody>
        </p:sp>
      </p:grpSp>
      <p:grpSp>
        <p:nvGrpSpPr>
          <p:cNvPr name="Group 7" id="7"/>
          <p:cNvGrpSpPr/>
          <p:nvPr/>
        </p:nvGrpSpPr>
        <p:grpSpPr>
          <a:xfrm rot="0">
            <a:off x="1263876" y="7132612"/>
            <a:ext cx="3086100" cy="1739347"/>
            <a:chOff x="0" y="0"/>
            <a:chExt cx="812800" cy="458100"/>
          </a:xfrm>
        </p:grpSpPr>
        <p:sp>
          <p:nvSpPr>
            <p:cNvPr name="Freeform 8" id="8"/>
            <p:cNvSpPr/>
            <p:nvPr/>
          </p:nvSpPr>
          <p:spPr>
            <a:xfrm flipH="false" flipV="false" rot="0">
              <a:off x="0" y="0"/>
              <a:ext cx="812800" cy="458100"/>
            </a:xfrm>
            <a:custGeom>
              <a:avLst/>
              <a:gdLst/>
              <a:ahLst/>
              <a:cxnLst/>
              <a:rect r="r" b="b" t="t" l="l"/>
              <a:pathLst>
                <a:path h="458100" w="812800">
                  <a:moveTo>
                    <a:pt x="127941" y="0"/>
                  </a:moveTo>
                  <a:lnTo>
                    <a:pt x="684859" y="0"/>
                  </a:lnTo>
                  <a:cubicBezTo>
                    <a:pt x="718791" y="0"/>
                    <a:pt x="751333" y="13479"/>
                    <a:pt x="775327" y="37473"/>
                  </a:cubicBezTo>
                  <a:cubicBezTo>
                    <a:pt x="799321" y="61467"/>
                    <a:pt x="812800" y="94009"/>
                    <a:pt x="812800" y="127941"/>
                  </a:cubicBezTo>
                  <a:lnTo>
                    <a:pt x="812800" y="330159"/>
                  </a:lnTo>
                  <a:cubicBezTo>
                    <a:pt x="812800" y="364091"/>
                    <a:pt x="799321" y="396633"/>
                    <a:pt x="775327" y="420627"/>
                  </a:cubicBezTo>
                  <a:cubicBezTo>
                    <a:pt x="751333" y="444620"/>
                    <a:pt x="718791" y="458100"/>
                    <a:pt x="684859" y="458100"/>
                  </a:cubicBezTo>
                  <a:lnTo>
                    <a:pt x="127941" y="458100"/>
                  </a:lnTo>
                  <a:cubicBezTo>
                    <a:pt x="94009" y="458100"/>
                    <a:pt x="61467" y="444620"/>
                    <a:pt x="37473" y="420627"/>
                  </a:cubicBezTo>
                  <a:cubicBezTo>
                    <a:pt x="13479" y="396633"/>
                    <a:pt x="0" y="364091"/>
                    <a:pt x="0" y="330159"/>
                  </a:cubicBezTo>
                  <a:lnTo>
                    <a:pt x="0" y="127941"/>
                  </a:lnTo>
                  <a:cubicBezTo>
                    <a:pt x="0" y="94009"/>
                    <a:pt x="13479" y="61467"/>
                    <a:pt x="37473" y="37473"/>
                  </a:cubicBezTo>
                  <a:cubicBezTo>
                    <a:pt x="61467" y="13479"/>
                    <a:pt x="94009" y="0"/>
                    <a:pt x="127941" y="0"/>
                  </a:cubicBezTo>
                  <a:close/>
                </a:path>
              </a:pathLst>
            </a:custGeom>
            <a:solidFill>
              <a:srgbClr val="F6F9FD"/>
            </a:solidFill>
          </p:spPr>
        </p:sp>
        <p:sp>
          <p:nvSpPr>
            <p:cNvPr name="TextBox 9" id="9"/>
            <p:cNvSpPr txBox="true"/>
            <p:nvPr/>
          </p:nvSpPr>
          <p:spPr>
            <a:xfrm>
              <a:off x="0" y="9525"/>
              <a:ext cx="812800" cy="448575"/>
            </a:xfrm>
            <a:prstGeom prst="rect">
              <a:avLst/>
            </a:prstGeom>
          </p:spPr>
          <p:txBody>
            <a:bodyPr anchor="ctr" rtlCol="false" tIns="50800" lIns="50800" bIns="50800" rIns="50800"/>
            <a:lstStyle/>
            <a:p>
              <a:pPr algn="ctr">
                <a:lnSpc>
                  <a:spcPts val="1760"/>
                </a:lnSpc>
              </a:pPr>
            </a:p>
          </p:txBody>
        </p:sp>
      </p:grpSp>
      <p:grpSp>
        <p:nvGrpSpPr>
          <p:cNvPr name="Group 10" id="10"/>
          <p:cNvGrpSpPr/>
          <p:nvPr/>
        </p:nvGrpSpPr>
        <p:grpSpPr>
          <a:xfrm rot="0">
            <a:off x="6391203" y="7132612"/>
            <a:ext cx="3086100" cy="1739347"/>
            <a:chOff x="0" y="0"/>
            <a:chExt cx="812800" cy="458100"/>
          </a:xfrm>
        </p:grpSpPr>
        <p:sp>
          <p:nvSpPr>
            <p:cNvPr name="Freeform 11" id="11"/>
            <p:cNvSpPr/>
            <p:nvPr/>
          </p:nvSpPr>
          <p:spPr>
            <a:xfrm flipH="false" flipV="false" rot="0">
              <a:off x="0" y="0"/>
              <a:ext cx="812800" cy="458100"/>
            </a:xfrm>
            <a:custGeom>
              <a:avLst/>
              <a:gdLst/>
              <a:ahLst/>
              <a:cxnLst/>
              <a:rect r="r" b="b" t="t" l="l"/>
              <a:pathLst>
                <a:path h="458100" w="812800">
                  <a:moveTo>
                    <a:pt x="127941" y="0"/>
                  </a:moveTo>
                  <a:lnTo>
                    <a:pt x="684859" y="0"/>
                  </a:lnTo>
                  <a:cubicBezTo>
                    <a:pt x="718791" y="0"/>
                    <a:pt x="751333" y="13479"/>
                    <a:pt x="775327" y="37473"/>
                  </a:cubicBezTo>
                  <a:cubicBezTo>
                    <a:pt x="799321" y="61467"/>
                    <a:pt x="812800" y="94009"/>
                    <a:pt x="812800" y="127941"/>
                  </a:cubicBezTo>
                  <a:lnTo>
                    <a:pt x="812800" y="330159"/>
                  </a:lnTo>
                  <a:cubicBezTo>
                    <a:pt x="812800" y="364091"/>
                    <a:pt x="799321" y="396633"/>
                    <a:pt x="775327" y="420627"/>
                  </a:cubicBezTo>
                  <a:cubicBezTo>
                    <a:pt x="751333" y="444620"/>
                    <a:pt x="718791" y="458100"/>
                    <a:pt x="684859" y="458100"/>
                  </a:cubicBezTo>
                  <a:lnTo>
                    <a:pt x="127941" y="458100"/>
                  </a:lnTo>
                  <a:cubicBezTo>
                    <a:pt x="94009" y="458100"/>
                    <a:pt x="61467" y="444620"/>
                    <a:pt x="37473" y="420627"/>
                  </a:cubicBezTo>
                  <a:cubicBezTo>
                    <a:pt x="13479" y="396633"/>
                    <a:pt x="0" y="364091"/>
                    <a:pt x="0" y="330159"/>
                  </a:cubicBezTo>
                  <a:lnTo>
                    <a:pt x="0" y="127941"/>
                  </a:lnTo>
                  <a:cubicBezTo>
                    <a:pt x="0" y="94009"/>
                    <a:pt x="13479" y="61467"/>
                    <a:pt x="37473" y="37473"/>
                  </a:cubicBezTo>
                  <a:cubicBezTo>
                    <a:pt x="61467" y="13479"/>
                    <a:pt x="94009" y="0"/>
                    <a:pt x="127941" y="0"/>
                  </a:cubicBezTo>
                  <a:close/>
                </a:path>
              </a:pathLst>
            </a:custGeom>
            <a:solidFill>
              <a:srgbClr val="F6F9FD"/>
            </a:solidFill>
          </p:spPr>
        </p:sp>
        <p:sp>
          <p:nvSpPr>
            <p:cNvPr name="TextBox 12" id="12"/>
            <p:cNvSpPr txBox="true"/>
            <p:nvPr/>
          </p:nvSpPr>
          <p:spPr>
            <a:xfrm>
              <a:off x="0" y="9525"/>
              <a:ext cx="812800" cy="448575"/>
            </a:xfrm>
            <a:prstGeom prst="rect">
              <a:avLst/>
            </a:prstGeom>
          </p:spPr>
          <p:txBody>
            <a:bodyPr anchor="ctr" rtlCol="false" tIns="50800" lIns="50800" bIns="50800" rIns="50800"/>
            <a:lstStyle/>
            <a:p>
              <a:pPr algn="ctr">
                <a:lnSpc>
                  <a:spcPts val="1760"/>
                </a:lnSpc>
              </a:pPr>
            </a:p>
          </p:txBody>
        </p:sp>
      </p:grpSp>
      <p:grpSp>
        <p:nvGrpSpPr>
          <p:cNvPr name="Group 13" id="13"/>
          <p:cNvGrpSpPr/>
          <p:nvPr/>
        </p:nvGrpSpPr>
        <p:grpSpPr>
          <a:xfrm rot="0">
            <a:off x="13469184" y="1375100"/>
            <a:ext cx="3086100" cy="1739347"/>
            <a:chOff x="0" y="0"/>
            <a:chExt cx="812800" cy="458100"/>
          </a:xfrm>
        </p:grpSpPr>
        <p:sp>
          <p:nvSpPr>
            <p:cNvPr name="Freeform 14" id="14"/>
            <p:cNvSpPr/>
            <p:nvPr/>
          </p:nvSpPr>
          <p:spPr>
            <a:xfrm flipH="false" flipV="false" rot="0">
              <a:off x="0" y="0"/>
              <a:ext cx="812800" cy="458100"/>
            </a:xfrm>
            <a:custGeom>
              <a:avLst/>
              <a:gdLst/>
              <a:ahLst/>
              <a:cxnLst/>
              <a:rect r="r" b="b" t="t" l="l"/>
              <a:pathLst>
                <a:path h="458100" w="812800">
                  <a:moveTo>
                    <a:pt x="127941" y="0"/>
                  </a:moveTo>
                  <a:lnTo>
                    <a:pt x="684859" y="0"/>
                  </a:lnTo>
                  <a:cubicBezTo>
                    <a:pt x="718791" y="0"/>
                    <a:pt x="751333" y="13479"/>
                    <a:pt x="775327" y="37473"/>
                  </a:cubicBezTo>
                  <a:cubicBezTo>
                    <a:pt x="799321" y="61467"/>
                    <a:pt x="812800" y="94009"/>
                    <a:pt x="812800" y="127941"/>
                  </a:cubicBezTo>
                  <a:lnTo>
                    <a:pt x="812800" y="330159"/>
                  </a:lnTo>
                  <a:cubicBezTo>
                    <a:pt x="812800" y="364091"/>
                    <a:pt x="799321" y="396633"/>
                    <a:pt x="775327" y="420627"/>
                  </a:cubicBezTo>
                  <a:cubicBezTo>
                    <a:pt x="751333" y="444620"/>
                    <a:pt x="718791" y="458100"/>
                    <a:pt x="684859" y="458100"/>
                  </a:cubicBezTo>
                  <a:lnTo>
                    <a:pt x="127941" y="458100"/>
                  </a:lnTo>
                  <a:cubicBezTo>
                    <a:pt x="94009" y="458100"/>
                    <a:pt x="61467" y="444620"/>
                    <a:pt x="37473" y="420627"/>
                  </a:cubicBezTo>
                  <a:cubicBezTo>
                    <a:pt x="13479" y="396633"/>
                    <a:pt x="0" y="364091"/>
                    <a:pt x="0" y="330159"/>
                  </a:cubicBezTo>
                  <a:lnTo>
                    <a:pt x="0" y="127941"/>
                  </a:lnTo>
                  <a:cubicBezTo>
                    <a:pt x="0" y="94009"/>
                    <a:pt x="13479" y="61467"/>
                    <a:pt x="37473" y="37473"/>
                  </a:cubicBezTo>
                  <a:cubicBezTo>
                    <a:pt x="61467" y="13479"/>
                    <a:pt x="94009" y="0"/>
                    <a:pt x="127941" y="0"/>
                  </a:cubicBezTo>
                  <a:close/>
                </a:path>
              </a:pathLst>
            </a:custGeom>
            <a:solidFill>
              <a:srgbClr val="F6F9FD"/>
            </a:solidFill>
          </p:spPr>
        </p:sp>
        <p:sp>
          <p:nvSpPr>
            <p:cNvPr name="TextBox 15" id="15"/>
            <p:cNvSpPr txBox="true"/>
            <p:nvPr/>
          </p:nvSpPr>
          <p:spPr>
            <a:xfrm>
              <a:off x="0" y="9525"/>
              <a:ext cx="812800" cy="448575"/>
            </a:xfrm>
            <a:prstGeom prst="rect">
              <a:avLst/>
            </a:prstGeom>
          </p:spPr>
          <p:txBody>
            <a:bodyPr anchor="ctr" rtlCol="false" tIns="50800" lIns="50800" bIns="50800" rIns="50800"/>
            <a:lstStyle/>
            <a:p>
              <a:pPr algn="ctr">
                <a:lnSpc>
                  <a:spcPts val="1760"/>
                </a:lnSpc>
              </a:pPr>
            </a:p>
          </p:txBody>
        </p:sp>
      </p:grpSp>
      <p:sp>
        <p:nvSpPr>
          <p:cNvPr name="Freeform 16" id="16"/>
          <p:cNvSpPr/>
          <p:nvPr/>
        </p:nvSpPr>
        <p:spPr>
          <a:xfrm flipH="false" flipV="false" rot="0">
            <a:off x="12223782" y="4204151"/>
            <a:ext cx="5218686" cy="3111700"/>
          </a:xfrm>
          <a:custGeom>
            <a:avLst/>
            <a:gdLst/>
            <a:ahLst/>
            <a:cxnLst/>
            <a:rect r="r" b="b" t="t" l="l"/>
            <a:pathLst>
              <a:path h="3111700" w="5218686">
                <a:moveTo>
                  <a:pt x="0" y="0"/>
                </a:moveTo>
                <a:lnTo>
                  <a:pt x="5218686" y="0"/>
                </a:lnTo>
                <a:lnTo>
                  <a:pt x="5218686" y="3111700"/>
                </a:lnTo>
                <a:lnTo>
                  <a:pt x="0" y="3111700"/>
                </a:lnTo>
                <a:lnTo>
                  <a:pt x="0" y="0"/>
                </a:lnTo>
                <a:close/>
              </a:path>
            </a:pathLst>
          </a:custGeom>
          <a:blipFill>
            <a:blip r:embed="rId5"/>
            <a:stretch>
              <a:fillRect l="0" t="0" r="0" b="-25783"/>
            </a:stretch>
          </a:blipFill>
        </p:spPr>
      </p:sp>
      <p:sp>
        <p:nvSpPr>
          <p:cNvPr name="TextBox 17" id="17"/>
          <p:cNvSpPr txBox="true"/>
          <p:nvPr/>
        </p:nvSpPr>
        <p:spPr>
          <a:xfrm rot="0">
            <a:off x="2478216" y="1522150"/>
            <a:ext cx="7825973" cy="594994"/>
          </a:xfrm>
          <a:prstGeom prst="rect">
            <a:avLst/>
          </a:prstGeom>
        </p:spPr>
        <p:txBody>
          <a:bodyPr anchor="t" rtlCol="false" tIns="0" lIns="0" bIns="0" rIns="0">
            <a:spAutoFit/>
          </a:bodyPr>
          <a:lstStyle/>
          <a:p>
            <a:pPr algn="l">
              <a:lnSpc>
                <a:spcPts val="4509"/>
              </a:lnSpc>
              <a:spcBef>
                <a:spcPct val="0"/>
              </a:spcBef>
            </a:pPr>
            <a:r>
              <a:rPr lang="en-US" b="true" sz="4099">
                <a:solidFill>
                  <a:srgbClr val="1A2F63"/>
                </a:solidFill>
                <a:latin typeface="League Spartan"/>
                <a:ea typeface="League Spartan"/>
                <a:cs typeface="League Spartan"/>
                <a:sym typeface="League Spartan"/>
              </a:rPr>
              <a:t>So... what’s the problem?</a:t>
            </a:r>
          </a:p>
        </p:txBody>
      </p:sp>
      <p:sp>
        <p:nvSpPr>
          <p:cNvPr name="TextBox 18" id="18"/>
          <p:cNvSpPr txBox="true"/>
          <p:nvPr/>
        </p:nvSpPr>
        <p:spPr>
          <a:xfrm rot="0">
            <a:off x="1448678" y="7373001"/>
            <a:ext cx="2141770" cy="805814"/>
          </a:xfrm>
          <a:prstGeom prst="rect">
            <a:avLst/>
          </a:prstGeom>
        </p:spPr>
        <p:txBody>
          <a:bodyPr anchor="t" rtlCol="false" tIns="0" lIns="0" bIns="0" rIns="0">
            <a:spAutoFit/>
          </a:bodyPr>
          <a:lstStyle/>
          <a:p>
            <a:pPr algn="l">
              <a:lnSpc>
                <a:spcPts val="6269"/>
              </a:lnSpc>
              <a:spcBef>
                <a:spcPct val="0"/>
              </a:spcBef>
            </a:pPr>
            <a:r>
              <a:rPr lang="en-US" b="true" sz="5699">
                <a:solidFill>
                  <a:srgbClr val="FF5757"/>
                </a:solidFill>
                <a:latin typeface="League Spartan"/>
                <a:ea typeface="League Spartan"/>
                <a:cs typeface="League Spartan"/>
                <a:sym typeface="League Spartan"/>
              </a:rPr>
              <a:t>25%</a:t>
            </a:r>
          </a:p>
        </p:txBody>
      </p:sp>
      <p:sp>
        <p:nvSpPr>
          <p:cNvPr name="TextBox 19" id="19"/>
          <p:cNvSpPr txBox="true"/>
          <p:nvPr/>
        </p:nvSpPr>
        <p:spPr>
          <a:xfrm rot="0">
            <a:off x="1448678" y="8178815"/>
            <a:ext cx="4430870" cy="638810"/>
          </a:xfrm>
          <a:prstGeom prst="rect">
            <a:avLst/>
          </a:prstGeom>
        </p:spPr>
        <p:txBody>
          <a:bodyPr anchor="t" rtlCol="false" tIns="0" lIns="0" bIns="0" rIns="0">
            <a:spAutoFit/>
          </a:bodyPr>
          <a:lstStyle/>
          <a:p>
            <a:pPr algn="l">
              <a:lnSpc>
                <a:spcPts val="2530"/>
              </a:lnSpc>
            </a:pPr>
            <a:r>
              <a:rPr lang="en-US" sz="2300" b="true">
                <a:solidFill>
                  <a:srgbClr val="0263FA"/>
                </a:solidFill>
                <a:latin typeface="League Spartan"/>
                <a:ea typeface="League Spartan"/>
                <a:cs typeface="League Spartan"/>
                <a:sym typeface="League Spartan"/>
              </a:rPr>
              <a:t>Age 5:</a:t>
            </a:r>
            <a:r>
              <a:rPr lang="en-US" sz="2300" b="true">
                <a:solidFill>
                  <a:srgbClr val="1A2F63"/>
                </a:solidFill>
                <a:latin typeface="League Spartan"/>
                <a:ea typeface="League Spartan"/>
                <a:cs typeface="League Spartan"/>
                <a:sym typeface="League Spartan"/>
              </a:rPr>
              <a:t> gap in expected</a:t>
            </a:r>
          </a:p>
          <a:p>
            <a:pPr algn="l">
              <a:lnSpc>
                <a:spcPts val="2530"/>
              </a:lnSpc>
              <a:spcBef>
                <a:spcPct val="0"/>
              </a:spcBef>
            </a:pPr>
            <a:r>
              <a:rPr lang="en-US" b="true" sz="2300">
                <a:solidFill>
                  <a:srgbClr val="1A2F63"/>
                </a:solidFill>
                <a:latin typeface="League Spartan"/>
                <a:ea typeface="League Spartan"/>
                <a:cs typeface="League Spartan"/>
                <a:sym typeface="League Spartan"/>
              </a:rPr>
              <a:t>early-development standard</a:t>
            </a:r>
          </a:p>
        </p:txBody>
      </p:sp>
      <p:sp>
        <p:nvSpPr>
          <p:cNvPr name="TextBox 20" id="20"/>
          <p:cNvSpPr txBox="true"/>
          <p:nvPr/>
        </p:nvSpPr>
        <p:spPr>
          <a:xfrm rot="0">
            <a:off x="6576005" y="7373001"/>
            <a:ext cx="2141770" cy="805814"/>
          </a:xfrm>
          <a:prstGeom prst="rect">
            <a:avLst/>
          </a:prstGeom>
        </p:spPr>
        <p:txBody>
          <a:bodyPr anchor="t" rtlCol="false" tIns="0" lIns="0" bIns="0" rIns="0">
            <a:spAutoFit/>
          </a:bodyPr>
          <a:lstStyle/>
          <a:p>
            <a:pPr algn="l">
              <a:lnSpc>
                <a:spcPts val="6269"/>
              </a:lnSpc>
              <a:spcBef>
                <a:spcPct val="0"/>
              </a:spcBef>
            </a:pPr>
            <a:r>
              <a:rPr lang="en-US" b="true" sz="5699">
                <a:solidFill>
                  <a:srgbClr val="FF5757"/>
                </a:solidFill>
                <a:latin typeface="League Spartan"/>
                <a:ea typeface="League Spartan"/>
                <a:cs typeface="League Spartan"/>
                <a:sym typeface="League Spartan"/>
              </a:rPr>
              <a:t>20%</a:t>
            </a:r>
          </a:p>
        </p:txBody>
      </p:sp>
      <p:sp>
        <p:nvSpPr>
          <p:cNvPr name="TextBox 21" id="21"/>
          <p:cNvSpPr txBox="true"/>
          <p:nvPr/>
        </p:nvSpPr>
        <p:spPr>
          <a:xfrm rot="0">
            <a:off x="6576005" y="8178815"/>
            <a:ext cx="4430870" cy="638810"/>
          </a:xfrm>
          <a:prstGeom prst="rect">
            <a:avLst/>
          </a:prstGeom>
        </p:spPr>
        <p:txBody>
          <a:bodyPr anchor="t" rtlCol="false" tIns="0" lIns="0" bIns="0" rIns="0">
            <a:spAutoFit/>
          </a:bodyPr>
          <a:lstStyle/>
          <a:p>
            <a:pPr algn="l">
              <a:lnSpc>
                <a:spcPts val="2530"/>
              </a:lnSpc>
              <a:spcBef>
                <a:spcPct val="0"/>
              </a:spcBef>
            </a:pPr>
            <a:r>
              <a:rPr lang="en-US" b="true" sz="2300">
                <a:solidFill>
                  <a:srgbClr val="0263FA"/>
                </a:solidFill>
                <a:latin typeface="League Spartan"/>
                <a:ea typeface="League Spartan"/>
                <a:cs typeface="League Spartan"/>
                <a:sym typeface="League Spartan"/>
              </a:rPr>
              <a:t>Age 11: </a:t>
            </a:r>
            <a:r>
              <a:rPr lang="en-US" b="true" sz="2300">
                <a:solidFill>
                  <a:srgbClr val="1A2F63"/>
                </a:solidFill>
                <a:latin typeface="League Spartan"/>
                <a:ea typeface="League Spartan"/>
                <a:cs typeface="League Spartan"/>
                <a:sym typeface="League Spartan"/>
              </a:rPr>
              <a:t>gap in expected  reading and writing</a:t>
            </a:r>
          </a:p>
        </p:txBody>
      </p:sp>
      <p:sp>
        <p:nvSpPr>
          <p:cNvPr name="TextBox 22" id="22"/>
          <p:cNvSpPr txBox="true"/>
          <p:nvPr/>
        </p:nvSpPr>
        <p:spPr>
          <a:xfrm rot="0">
            <a:off x="13653986" y="1615489"/>
            <a:ext cx="2141770" cy="805814"/>
          </a:xfrm>
          <a:prstGeom prst="rect">
            <a:avLst/>
          </a:prstGeom>
        </p:spPr>
        <p:txBody>
          <a:bodyPr anchor="t" rtlCol="false" tIns="0" lIns="0" bIns="0" rIns="0">
            <a:spAutoFit/>
          </a:bodyPr>
          <a:lstStyle/>
          <a:p>
            <a:pPr algn="l">
              <a:lnSpc>
                <a:spcPts val="6269"/>
              </a:lnSpc>
              <a:spcBef>
                <a:spcPct val="0"/>
              </a:spcBef>
            </a:pPr>
            <a:r>
              <a:rPr lang="en-US" b="true" sz="5699">
                <a:solidFill>
                  <a:srgbClr val="FF5757"/>
                </a:solidFill>
                <a:latin typeface="League Spartan"/>
                <a:ea typeface="League Spartan"/>
                <a:cs typeface="League Spartan"/>
                <a:sym typeface="League Spartan"/>
              </a:rPr>
              <a:t>3 in 4</a:t>
            </a:r>
          </a:p>
        </p:txBody>
      </p:sp>
      <p:sp>
        <p:nvSpPr>
          <p:cNvPr name="TextBox 23" id="23"/>
          <p:cNvSpPr txBox="true"/>
          <p:nvPr/>
        </p:nvSpPr>
        <p:spPr>
          <a:xfrm rot="0">
            <a:off x="13653986" y="2230527"/>
            <a:ext cx="3463734" cy="874395"/>
          </a:xfrm>
          <a:prstGeom prst="rect">
            <a:avLst/>
          </a:prstGeom>
        </p:spPr>
        <p:txBody>
          <a:bodyPr anchor="t" rtlCol="false" tIns="0" lIns="0" bIns="0" rIns="0">
            <a:spAutoFit/>
          </a:bodyPr>
          <a:lstStyle/>
          <a:p>
            <a:pPr algn="l">
              <a:lnSpc>
                <a:spcPts val="2310"/>
              </a:lnSpc>
              <a:spcBef>
                <a:spcPct val="0"/>
              </a:spcBef>
            </a:pPr>
            <a:r>
              <a:rPr lang="en-US" b="true" sz="2100">
                <a:solidFill>
                  <a:srgbClr val="1A2F63"/>
                </a:solidFill>
                <a:latin typeface="League Spartan"/>
                <a:ea typeface="League Spartan"/>
                <a:cs typeface="League Spartan"/>
                <a:sym typeface="League Spartan"/>
              </a:rPr>
              <a:t>reported challenges understanding graphs or photos</a:t>
            </a:r>
          </a:p>
        </p:txBody>
      </p:sp>
      <p:sp>
        <p:nvSpPr>
          <p:cNvPr name="TextBox 24" id="24"/>
          <p:cNvSpPr txBox="true"/>
          <p:nvPr/>
        </p:nvSpPr>
        <p:spPr>
          <a:xfrm rot="0">
            <a:off x="2383638" y="3152547"/>
            <a:ext cx="8015130" cy="2111375"/>
          </a:xfrm>
          <a:prstGeom prst="rect">
            <a:avLst/>
          </a:prstGeom>
        </p:spPr>
        <p:txBody>
          <a:bodyPr anchor="t" rtlCol="false" tIns="0" lIns="0" bIns="0" rIns="0">
            <a:spAutoFit/>
          </a:bodyPr>
          <a:lstStyle/>
          <a:p>
            <a:pPr algn="ctr">
              <a:lnSpc>
                <a:spcPts val="5500"/>
              </a:lnSpc>
              <a:spcBef>
                <a:spcPct val="0"/>
              </a:spcBef>
            </a:pPr>
            <a:r>
              <a:rPr lang="en-US" sz="5000">
                <a:solidFill>
                  <a:srgbClr val="000000"/>
                </a:solidFill>
                <a:latin typeface="League Spartan"/>
                <a:ea typeface="League Spartan"/>
                <a:cs typeface="League Spartan"/>
                <a:sym typeface="League Spartan"/>
              </a:rPr>
              <a:t>School outcomes for students with </a:t>
            </a:r>
            <a:r>
              <a:rPr lang="en-US" sz="5000">
                <a:solidFill>
                  <a:srgbClr val="0263FA"/>
                </a:solidFill>
                <a:latin typeface="League Spartan"/>
                <a:ea typeface="League Spartan"/>
                <a:cs typeface="League Spartan"/>
                <a:sym typeface="League Spartan"/>
              </a:rPr>
              <a:t>vision impairment.</a:t>
            </a:r>
          </a:p>
        </p:txBody>
      </p:sp>
      <p:sp>
        <p:nvSpPr>
          <p:cNvPr name="TextBox 25" id="25"/>
          <p:cNvSpPr txBox="true"/>
          <p:nvPr/>
        </p:nvSpPr>
        <p:spPr>
          <a:xfrm rot="0">
            <a:off x="2383638" y="5621904"/>
            <a:ext cx="8015130" cy="568325"/>
          </a:xfrm>
          <a:prstGeom prst="rect">
            <a:avLst/>
          </a:prstGeom>
        </p:spPr>
        <p:txBody>
          <a:bodyPr anchor="t" rtlCol="false" tIns="0" lIns="0" bIns="0" rIns="0">
            <a:spAutoFit/>
          </a:bodyPr>
          <a:lstStyle/>
          <a:p>
            <a:pPr algn="ctr">
              <a:lnSpc>
                <a:spcPts val="2200"/>
              </a:lnSpc>
              <a:spcBef>
                <a:spcPct val="0"/>
              </a:spcBef>
            </a:pPr>
            <a:r>
              <a:rPr lang="en-US" sz="2000">
                <a:solidFill>
                  <a:srgbClr val="000000">
                    <a:alpha val="38824"/>
                  </a:srgbClr>
                </a:solidFill>
                <a:latin typeface="League Spartan"/>
                <a:ea typeface="League Spartan"/>
                <a:cs typeface="League Spartan"/>
                <a:sym typeface="League Spartan"/>
              </a:rPr>
              <a:t>RNIB’s 2026 analysis of Eng</a:t>
            </a:r>
            <a:r>
              <a:rPr lang="en-US" sz="2000">
                <a:solidFill>
                  <a:srgbClr val="000000">
                    <a:alpha val="38824"/>
                  </a:srgbClr>
                </a:solidFill>
                <a:latin typeface="League Spartan"/>
                <a:ea typeface="League Spartan"/>
                <a:cs typeface="League Spartan"/>
                <a:sym typeface="League Spartan"/>
              </a:rPr>
              <a:t>land’s official 2023–24 pupil atta</a:t>
            </a:r>
            <a:r>
              <a:rPr lang="en-US" sz="2000">
                <a:solidFill>
                  <a:srgbClr val="000000">
                    <a:alpha val="38824"/>
                  </a:srgbClr>
                </a:solidFill>
                <a:latin typeface="League Spartan"/>
                <a:ea typeface="League Spartan"/>
                <a:cs typeface="League Spartan"/>
                <a:sym typeface="League Spartan"/>
              </a:rPr>
              <a:t>inm</a:t>
            </a:r>
            <a:r>
              <a:rPr lang="en-US" sz="2000">
                <a:solidFill>
                  <a:srgbClr val="000000">
                    <a:alpha val="38824"/>
                  </a:srgbClr>
                </a:solidFill>
                <a:latin typeface="League Spartan"/>
                <a:ea typeface="League Spartan"/>
                <a:cs typeface="League Spartan"/>
                <a:sym typeface="League Spartan"/>
              </a:rPr>
              <a:t>ent d</a:t>
            </a:r>
            <a:r>
              <a:rPr lang="en-US" sz="2000">
                <a:solidFill>
                  <a:srgbClr val="000000">
                    <a:alpha val="38824"/>
                  </a:srgbClr>
                </a:solidFill>
                <a:latin typeface="League Spartan"/>
                <a:ea typeface="League Spartan"/>
                <a:cs typeface="League Spartan"/>
                <a:sym typeface="League Spartan"/>
              </a:rPr>
              <a:t>at</a:t>
            </a:r>
            <a:r>
              <a:rPr lang="en-US" sz="2000">
                <a:solidFill>
                  <a:srgbClr val="000000">
                    <a:alpha val="38824"/>
                  </a:srgbClr>
                </a:solidFill>
                <a:latin typeface="League Spartan"/>
                <a:ea typeface="League Spartan"/>
                <a:cs typeface="League Spartan"/>
                <a:sym typeface="League Spartan"/>
              </a:rPr>
              <a:t>a</a:t>
            </a:r>
          </a:p>
        </p:txBody>
      </p:sp>
      <p:sp>
        <p:nvSpPr>
          <p:cNvPr name="TextBox 26" id="26"/>
          <p:cNvSpPr txBox="true"/>
          <p:nvPr/>
        </p:nvSpPr>
        <p:spPr>
          <a:xfrm rot="0">
            <a:off x="12584482" y="4333204"/>
            <a:ext cx="5026954" cy="568325"/>
          </a:xfrm>
          <a:prstGeom prst="rect">
            <a:avLst/>
          </a:prstGeom>
        </p:spPr>
        <p:txBody>
          <a:bodyPr anchor="t" rtlCol="false" tIns="0" lIns="0" bIns="0" rIns="0">
            <a:spAutoFit/>
          </a:bodyPr>
          <a:lstStyle/>
          <a:p>
            <a:pPr algn="l">
              <a:lnSpc>
                <a:spcPts val="2200"/>
              </a:lnSpc>
              <a:spcBef>
                <a:spcPct val="0"/>
              </a:spcBef>
            </a:pPr>
            <a:r>
              <a:rPr lang="en-US" sz="2000">
                <a:solidFill>
                  <a:srgbClr val="000000"/>
                </a:solidFill>
                <a:latin typeface="League Spartan"/>
                <a:ea typeface="League Spartan"/>
                <a:cs typeface="League Spartan"/>
                <a:sym typeface="League Spartan"/>
              </a:rPr>
              <a:t>The gap shows up across early literacy. Age 5 outcomes:</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837188" y="1274400"/>
            <a:ext cx="1025482" cy="861794"/>
            <a:chOff x="0" y="0"/>
            <a:chExt cx="270086" cy="226975"/>
          </a:xfrm>
        </p:grpSpPr>
        <p:sp>
          <p:nvSpPr>
            <p:cNvPr name="Freeform 4" id="4"/>
            <p:cNvSpPr/>
            <p:nvPr/>
          </p:nvSpPr>
          <p:spPr>
            <a:xfrm flipH="false" flipV="false" rot="0">
              <a:off x="0" y="0"/>
              <a:ext cx="270086" cy="226975"/>
            </a:xfrm>
            <a:custGeom>
              <a:avLst/>
              <a:gdLst/>
              <a:ahLst/>
              <a:cxnLst/>
              <a:rect r="r" b="b" t="t" l="l"/>
              <a:pathLst>
                <a:path h="226975" w="270086">
                  <a:moveTo>
                    <a:pt x="113487" y="0"/>
                  </a:moveTo>
                  <a:lnTo>
                    <a:pt x="156598" y="0"/>
                  </a:lnTo>
                  <a:cubicBezTo>
                    <a:pt x="186697" y="0"/>
                    <a:pt x="215563" y="11957"/>
                    <a:pt x="236846" y="33240"/>
                  </a:cubicBezTo>
                  <a:cubicBezTo>
                    <a:pt x="258129" y="54523"/>
                    <a:pt x="270086" y="83389"/>
                    <a:pt x="270086" y="113487"/>
                  </a:cubicBezTo>
                  <a:lnTo>
                    <a:pt x="270086" y="113487"/>
                  </a:lnTo>
                  <a:cubicBezTo>
                    <a:pt x="270086" y="176165"/>
                    <a:pt x="219276" y="226975"/>
                    <a:pt x="156598" y="226975"/>
                  </a:cubicBezTo>
                  <a:lnTo>
                    <a:pt x="113487" y="226975"/>
                  </a:lnTo>
                  <a:cubicBezTo>
                    <a:pt x="50810" y="226975"/>
                    <a:pt x="0" y="176165"/>
                    <a:pt x="0" y="113487"/>
                  </a:cubicBezTo>
                  <a:lnTo>
                    <a:pt x="0" y="113487"/>
                  </a:lnTo>
                  <a:cubicBezTo>
                    <a:pt x="0" y="50810"/>
                    <a:pt x="50810" y="0"/>
                    <a:pt x="113487" y="0"/>
                  </a:cubicBezTo>
                  <a:close/>
                </a:path>
              </a:pathLst>
            </a:custGeom>
            <a:solidFill>
              <a:srgbClr val="F6F9FD"/>
            </a:solidFill>
          </p:spPr>
        </p:sp>
        <p:sp>
          <p:nvSpPr>
            <p:cNvPr name="TextBox 5" id="5"/>
            <p:cNvSpPr txBox="true"/>
            <p:nvPr/>
          </p:nvSpPr>
          <p:spPr>
            <a:xfrm>
              <a:off x="0" y="9525"/>
              <a:ext cx="270086" cy="217450"/>
            </a:xfrm>
            <a:prstGeom prst="rect">
              <a:avLst/>
            </a:prstGeom>
          </p:spPr>
          <p:txBody>
            <a:bodyPr anchor="ctr" rtlCol="false" tIns="50800" lIns="50800" bIns="50800" rIns="50800"/>
            <a:lstStyle/>
            <a:p>
              <a:pPr algn="ctr">
                <a:lnSpc>
                  <a:spcPts val="1760"/>
                </a:lnSpc>
              </a:pPr>
            </a:p>
          </p:txBody>
        </p:sp>
      </p:grpSp>
      <p:grpSp>
        <p:nvGrpSpPr>
          <p:cNvPr name="Group 6" id="6"/>
          <p:cNvGrpSpPr/>
          <p:nvPr/>
        </p:nvGrpSpPr>
        <p:grpSpPr>
          <a:xfrm rot="0">
            <a:off x="1875770" y="1328639"/>
            <a:ext cx="8428420" cy="861794"/>
            <a:chOff x="0" y="0"/>
            <a:chExt cx="2219831" cy="226975"/>
          </a:xfrm>
        </p:grpSpPr>
        <p:sp>
          <p:nvSpPr>
            <p:cNvPr name="Freeform 7" id="7"/>
            <p:cNvSpPr/>
            <p:nvPr/>
          </p:nvSpPr>
          <p:spPr>
            <a:xfrm flipH="false" flipV="false" rot="0">
              <a:off x="0" y="0"/>
              <a:ext cx="2219831" cy="226975"/>
            </a:xfrm>
            <a:custGeom>
              <a:avLst/>
              <a:gdLst/>
              <a:ahLst/>
              <a:cxnLst/>
              <a:rect r="r" b="b" t="t" l="l"/>
              <a:pathLst>
                <a:path h="226975" w="2219831">
                  <a:moveTo>
                    <a:pt x="43172" y="0"/>
                  </a:moveTo>
                  <a:lnTo>
                    <a:pt x="2176659" y="0"/>
                  </a:lnTo>
                  <a:cubicBezTo>
                    <a:pt x="2188109" y="0"/>
                    <a:pt x="2199090" y="4548"/>
                    <a:pt x="2207186" y="12645"/>
                  </a:cubicBezTo>
                  <a:cubicBezTo>
                    <a:pt x="2215282" y="20741"/>
                    <a:pt x="2219831" y="31722"/>
                    <a:pt x="2219831" y="43172"/>
                  </a:cubicBezTo>
                  <a:lnTo>
                    <a:pt x="2219831" y="183803"/>
                  </a:lnTo>
                  <a:cubicBezTo>
                    <a:pt x="2219831" y="207646"/>
                    <a:pt x="2200502" y="226975"/>
                    <a:pt x="2176659" y="226975"/>
                  </a:cubicBezTo>
                  <a:lnTo>
                    <a:pt x="43172" y="226975"/>
                  </a:lnTo>
                  <a:cubicBezTo>
                    <a:pt x="31722" y="226975"/>
                    <a:pt x="20741" y="222426"/>
                    <a:pt x="12645" y="214330"/>
                  </a:cubicBezTo>
                  <a:cubicBezTo>
                    <a:pt x="4548" y="206234"/>
                    <a:pt x="0" y="195253"/>
                    <a:pt x="0" y="183803"/>
                  </a:cubicBezTo>
                  <a:lnTo>
                    <a:pt x="0" y="43172"/>
                  </a:lnTo>
                  <a:cubicBezTo>
                    <a:pt x="0" y="19329"/>
                    <a:pt x="19329" y="0"/>
                    <a:pt x="43172" y="0"/>
                  </a:cubicBezTo>
                  <a:close/>
                </a:path>
              </a:pathLst>
            </a:custGeom>
            <a:solidFill>
              <a:srgbClr val="E0ECFE"/>
            </a:solidFill>
          </p:spPr>
        </p:sp>
        <p:sp>
          <p:nvSpPr>
            <p:cNvPr name="TextBox 8" id="8"/>
            <p:cNvSpPr txBox="true"/>
            <p:nvPr/>
          </p:nvSpPr>
          <p:spPr>
            <a:xfrm>
              <a:off x="0" y="9525"/>
              <a:ext cx="2219831" cy="217450"/>
            </a:xfrm>
            <a:prstGeom prst="rect">
              <a:avLst/>
            </a:prstGeom>
          </p:spPr>
          <p:txBody>
            <a:bodyPr anchor="ctr" rtlCol="false" tIns="50800" lIns="50800" bIns="50800" rIns="50800"/>
            <a:lstStyle/>
            <a:p>
              <a:pPr algn="ctr">
                <a:lnSpc>
                  <a:spcPts val="1760"/>
                </a:lnSpc>
              </a:pPr>
            </a:p>
          </p:txBody>
        </p:sp>
      </p:grpSp>
      <p:grpSp>
        <p:nvGrpSpPr>
          <p:cNvPr name="Group 9" id="9"/>
          <p:cNvGrpSpPr/>
          <p:nvPr/>
        </p:nvGrpSpPr>
        <p:grpSpPr>
          <a:xfrm rot="0">
            <a:off x="892449" y="1328639"/>
            <a:ext cx="887152" cy="876204"/>
            <a:chOff x="0" y="0"/>
            <a:chExt cx="804464" cy="794537"/>
          </a:xfrm>
        </p:grpSpPr>
        <p:sp>
          <p:nvSpPr>
            <p:cNvPr name="Freeform 10" id="10"/>
            <p:cNvSpPr/>
            <p:nvPr/>
          </p:nvSpPr>
          <p:spPr>
            <a:xfrm flipH="false" flipV="false" rot="0">
              <a:off x="0" y="0"/>
              <a:ext cx="804464" cy="794537"/>
            </a:xfrm>
            <a:custGeom>
              <a:avLst/>
              <a:gdLst/>
              <a:ahLst/>
              <a:cxnLst/>
              <a:rect r="r" b="b" t="t" l="l"/>
              <a:pathLst>
                <a:path h="794537" w="804464">
                  <a:moveTo>
                    <a:pt x="165808" y="0"/>
                  </a:moveTo>
                  <a:lnTo>
                    <a:pt x="638656" y="0"/>
                  </a:lnTo>
                  <a:cubicBezTo>
                    <a:pt x="682631" y="0"/>
                    <a:pt x="724805" y="17469"/>
                    <a:pt x="755900" y="48564"/>
                  </a:cubicBezTo>
                  <a:cubicBezTo>
                    <a:pt x="786995" y="79659"/>
                    <a:pt x="804464" y="121833"/>
                    <a:pt x="804464" y="165808"/>
                  </a:cubicBezTo>
                  <a:lnTo>
                    <a:pt x="804464" y="628729"/>
                  </a:lnTo>
                  <a:cubicBezTo>
                    <a:pt x="804464" y="672704"/>
                    <a:pt x="786995" y="714878"/>
                    <a:pt x="755900" y="745973"/>
                  </a:cubicBezTo>
                  <a:cubicBezTo>
                    <a:pt x="724805" y="777068"/>
                    <a:pt x="682631" y="794537"/>
                    <a:pt x="638656" y="794537"/>
                  </a:cubicBezTo>
                  <a:lnTo>
                    <a:pt x="165808" y="794537"/>
                  </a:lnTo>
                  <a:cubicBezTo>
                    <a:pt x="121833" y="794537"/>
                    <a:pt x="79659" y="777068"/>
                    <a:pt x="48564" y="745973"/>
                  </a:cubicBezTo>
                  <a:cubicBezTo>
                    <a:pt x="17469" y="714878"/>
                    <a:pt x="0" y="672704"/>
                    <a:pt x="0" y="628729"/>
                  </a:cubicBezTo>
                  <a:lnTo>
                    <a:pt x="0" y="165808"/>
                  </a:lnTo>
                  <a:cubicBezTo>
                    <a:pt x="0" y="121833"/>
                    <a:pt x="17469" y="79659"/>
                    <a:pt x="48564" y="48564"/>
                  </a:cubicBezTo>
                  <a:cubicBezTo>
                    <a:pt x="79659" y="17469"/>
                    <a:pt x="121833" y="0"/>
                    <a:pt x="165808" y="0"/>
                  </a:cubicBezTo>
                  <a:close/>
                </a:path>
              </a:pathLst>
            </a:custGeom>
            <a:blipFill>
              <a:blip r:embed="rId4"/>
              <a:stretch>
                <a:fillRect l="-12508" t="-4545" r="-200686" b="-1090"/>
              </a:stretch>
            </a:blipFill>
          </p:spPr>
        </p:sp>
      </p:grpSp>
      <p:grpSp>
        <p:nvGrpSpPr>
          <p:cNvPr name="Group 11" id="11"/>
          <p:cNvGrpSpPr/>
          <p:nvPr/>
        </p:nvGrpSpPr>
        <p:grpSpPr>
          <a:xfrm rot="0">
            <a:off x="12523386" y="2052665"/>
            <a:ext cx="4798554" cy="2006233"/>
            <a:chOff x="0" y="0"/>
            <a:chExt cx="1263817" cy="528391"/>
          </a:xfrm>
        </p:grpSpPr>
        <p:sp>
          <p:nvSpPr>
            <p:cNvPr name="Freeform 12" id="12"/>
            <p:cNvSpPr/>
            <p:nvPr/>
          </p:nvSpPr>
          <p:spPr>
            <a:xfrm flipH="false" flipV="false" rot="0">
              <a:off x="0" y="0"/>
              <a:ext cx="1263817" cy="528391"/>
            </a:xfrm>
            <a:custGeom>
              <a:avLst/>
              <a:gdLst/>
              <a:ahLst/>
              <a:cxnLst/>
              <a:rect r="r" b="b" t="t" l="l"/>
              <a:pathLst>
                <a:path h="528391" w="1263817">
                  <a:moveTo>
                    <a:pt x="75829" y="0"/>
                  </a:moveTo>
                  <a:lnTo>
                    <a:pt x="1187987" y="0"/>
                  </a:lnTo>
                  <a:cubicBezTo>
                    <a:pt x="1208099" y="0"/>
                    <a:pt x="1227386" y="7989"/>
                    <a:pt x="1241607" y="22210"/>
                  </a:cubicBezTo>
                  <a:cubicBezTo>
                    <a:pt x="1255828" y="36431"/>
                    <a:pt x="1263817" y="55718"/>
                    <a:pt x="1263817" y="75829"/>
                  </a:cubicBezTo>
                  <a:lnTo>
                    <a:pt x="1263817" y="452562"/>
                  </a:lnTo>
                  <a:cubicBezTo>
                    <a:pt x="1263817" y="472673"/>
                    <a:pt x="1255828" y="491960"/>
                    <a:pt x="1241607" y="506181"/>
                  </a:cubicBezTo>
                  <a:cubicBezTo>
                    <a:pt x="1227386" y="520402"/>
                    <a:pt x="1208099" y="528391"/>
                    <a:pt x="1187987" y="528391"/>
                  </a:cubicBezTo>
                  <a:lnTo>
                    <a:pt x="75829" y="528391"/>
                  </a:lnTo>
                  <a:cubicBezTo>
                    <a:pt x="33950" y="528391"/>
                    <a:pt x="0" y="494441"/>
                    <a:pt x="0" y="452562"/>
                  </a:cubicBezTo>
                  <a:lnTo>
                    <a:pt x="0" y="75829"/>
                  </a:lnTo>
                  <a:cubicBezTo>
                    <a:pt x="0" y="55718"/>
                    <a:pt x="7989" y="36431"/>
                    <a:pt x="22210" y="22210"/>
                  </a:cubicBezTo>
                  <a:cubicBezTo>
                    <a:pt x="36431" y="7989"/>
                    <a:pt x="55718" y="0"/>
                    <a:pt x="75829" y="0"/>
                  </a:cubicBezTo>
                  <a:close/>
                </a:path>
              </a:pathLst>
            </a:custGeom>
            <a:solidFill>
              <a:srgbClr val="F6F9FD"/>
            </a:solidFill>
          </p:spPr>
        </p:sp>
        <p:sp>
          <p:nvSpPr>
            <p:cNvPr name="TextBox 13" id="13"/>
            <p:cNvSpPr txBox="true"/>
            <p:nvPr/>
          </p:nvSpPr>
          <p:spPr>
            <a:xfrm>
              <a:off x="0" y="9525"/>
              <a:ext cx="1263817" cy="518866"/>
            </a:xfrm>
            <a:prstGeom prst="rect">
              <a:avLst/>
            </a:prstGeom>
          </p:spPr>
          <p:txBody>
            <a:bodyPr anchor="ctr" rtlCol="false" tIns="50800" lIns="50800" bIns="50800" rIns="50800"/>
            <a:lstStyle/>
            <a:p>
              <a:pPr algn="ctr">
                <a:lnSpc>
                  <a:spcPts val="1760"/>
                </a:lnSpc>
              </a:pPr>
            </a:p>
          </p:txBody>
        </p:sp>
      </p:grpSp>
      <p:grpSp>
        <p:nvGrpSpPr>
          <p:cNvPr name="Group 14" id="14"/>
          <p:cNvGrpSpPr/>
          <p:nvPr/>
        </p:nvGrpSpPr>
        <p:grpSpPr>
          <a:xfrm rot="0">
            <a:off x="12791614" y="4520362"/>
            <a:ext cx="4491696" cy="1606073"/>
            <a:chOff x="0" y="0"/>
            <a:chExt cx="1182998" cy="422999"/>
          </a:xfrm>
        </p:grpSpPr>
        <p:sp>
          <p:nvSpPr>
            <p:cNvPr name="Freeform 15" id="15"/>
            <p:cNvSpPr/>
            <p:nvPr/>
          </p:nvSpPr>
          <p:spPr>
            <a:xfrm flipH="false" flipV="false" rot="0">
              <a:off x="0" y="0"/>
              <a:ext cx="1182998" cy="422999"/>
            </a:xfrm>
            <a:custGeom>
              <a:avLst/>
              <a:gdLst/>
              <a:ahLst/>
              <a:cxnLst/>
              <a:rect r="r" b="b" t="t" l="l"/>
              <a:pathLst>
                <a:path h="422999" w="1182998">
                  <a:moveTo>
                    <a:pt x="81010" y="0"/>
                  </a:moveTo>
                  <a:lnTo>
                    <a:pt x="1101988" y="0"/>
                  </a:lnTo>
                  <a:cubicBezTo>
                    <a:pt x="1146729" y="0"/>
                    <a:pt x="1182998" y="36269"/>
                    <a:pt x="1182998" y="81010"/>
                  </a:cubicBezTo>
                  <a:lnTo>
                    <a:pt x="1182998" y="341989"/>
                  </a:lnTo>
                  <a:cubicBezTo>
                    <a:pt x="1182998" y="386730"/>
                    <a:pt x="1146729" y="422999"/>
                    <a:pt x="1101988" y="422999"/>
                  </a:cubicBezTo>
                  <a:lnTo>
                    <a:pt x="81010" y="422999"/>
                  </a:lnTo>
                  <a:cubicBezTo>
                    <a:pt x="59524" y="422999"/>
                    <a:pt x="38919" y="414464"/>
                    <a:pt x="23727" y="399272"/>
                  </a:cubicBezTo>
                  <a:cubicBezTo>
                    <a:pt x="8535" y="384079"/>
                    <a:pt x="0" y="363474"/>
                    <a:pt x="0" y="341989"/>
                  </a:cubicBezTo>
                  <a:lnTo>
                    <a:pt x="0" y="81010"/>
                  </a:lnTo>
                  <a:cubicBezTo>
                    <a:pt x="0" y="36269"/>
                    <a:pt x="36269" y="0"/>
                    <a:pt x="81010" y="0"/>
                  </a:cubicBezTo>
                  <a:close/>
                </a:path>
              </a:pathLst>
            </a:custGeom>
            <a:solidFill>
              <a:srgbClr val="ECF3FD"/>
            </a:solidFill>
          </p:spPr>
        </p:sp>
        <p:sp>
          <p:nvSpPr>
            <p:cNvPr name="TextBox 16" id="16"/>
            <p:cNvSpPr txBox="true"/>
            <p:nvPr/>
          </p:nvSpPr>
          <p:spPr>
            <a:xfrm>
              <a:off x="0" y="9525"/>
              <a:ext cx="1182998" cy="413474"/>
            </a:xfrm>
            <a:prstGeom prst="rect">
              <a:avLst/>
            </a:prstGeom>
          </p:spPr>
          <p:txBody>
            <a:bodyPr anchor="ctr" rtlCol="false" tIns="50800" lIns="50800" bIns="50800" rIns="50800"/>
            <a:lstStyle/>
            <a:p>
              <a:pPr algn="ctr">
                <a:lnSpc>
                  <a:spcPts val="1760"/>
                </a:lnSpc>
              </a:pPr>
            </a:p>
          </p:txBody>
        </p:sp>
      </p:grpSp>
      <p:grpSp>
        <p:nvGrpSpPr>
          <p:cNvPr name="Group 17" id="17"/>
          <p:cNvGrpSpPr/>
          <p:nvPr/>
        </p:nvGrpSpPr>
        <p:grpSpPr>
          <a:xfrm rot="0">
            <a:off x="12523386" y="6386654"/>
            <a:ext cx="4798554" cy="942977"/>
            <a:chOff x="0" y="0"/>
            <a:chExt cx="1263817" cy="248356"/>
          </a:xfrm>
        </p:grpSpPr>
        <p:sp>
          <p:nvSpPr>
            <p:cNvPr name="Freeform 18" id="18"/>
            <p:cNvSpPr/>
            <p:nvPr/>
          </p:nvSpPr>
          <p:spPr>
            <a:xfrm flipH="false" flipV="false" rot="0">
              <a:off x="0" y="0"/>
              <a:ext cx="1263817" cy="248356"/>
            </a:xfrm>
            <a:custGeom>
              <a:avLst/>
              <a:gdLst/>
              <a:ahLst/>
              <a:cxnLst/>
              <a:rect r="r" b="b" t="t" l="l"/>
              <a:pathLst>
                <a:path h="248356" w="1263817">
                  <a:moveTo>
                    <a:pt x="75829" y="0"/>
                  </a:moveTo>
                  <a:lnTo>
                    <a:pt x="1187987" y="0"/>
                  </a:lnTo>
                  <a:cubicBezTo>
                    <a:pt x="1208099" y="0"/>
                    <a:pt x="1227386" y="7989"/>
                    <a:pt x="1241607" y="22210"/>
                  </a:cubicBezTo>
                  <a:cubicBezTo>
                    <a:pt x="1255828" y="36431"/>
                    <a:pt x="1263817" y="55718"/>
                    <a:pt x="1263817" y="75829"/>
                  </a:cubicBezTo>
                  <a:lnTo>
                    <a:pt x="1263817" y="172527"/>
                  </a:lnTo>
                  <a:cubicBezTo>
                    <a:pt x="1263817" y="214406"/>
                    <a:pt x="1229867" y="248356"/>
                    <a:pt x="1187987" y="248356"/>
                  </a:cubicBezTo>
                  <a:lnTo>
                    <a:pt x="75829" y="248356"/>
                  </a:lnTo>
                  <a:cubicBezTo>
                    <a:pt x="55718" y="248356"/>
                    <a:pt x="36431" y="240367"/>
                    <a:pt x="22210" y="226146"/>
                  </a:cubicBezTo>
                  <a:cubicBezTo>
                    <a:pt x="7989" y="211926"/>
                    <a:pt x="0" y="192638"/>
                    <a:pt x="0" y="172527"/>
                  </a:cubicBezTo>
                  <a:lnTo>
                    <a:pt x="0" y="75829"/>
                  </a:lnTo>
                  <a:cubicBezTo>
                    <a:pt x="0" y="55718"/>
                    <a:pt x="7989" y="36431"/>
                    <a:pt x="22210" y="22210"/>
                  </a:cubicBezTo>
                  <a:cubicBezTo>
                    <a:pt x="36431" y="7989"/>
                    <a:pt x="55718" y="0"/>
                    <a:pt x="75829" y="0"/>
                  </a:cubicBezTo>
                  <a:close/>
                </a:path>
              </a:pathLst>
            </a:custGeom>
            <a:solidFill>
              <a:srgbClr val="F6F9FD"/>
            </a:solidFill>
          </p:spPr>
        </p:sp>
        <p:sp>
          <p:nvSpPr>
            <p:cNvPr name="TextBox 19" id="19"/>
            <p:cNvSpPr txBox="true"/>
            <p:nvPr/>
          </p:nvSpPr>
          <p:spPr>
            <a:xfrm>
              <a:off x="0" y="9525"/>
              <a:ext cx="1263817" cy="238831"/>
            </a:xfrm>
            <a:prstGeom prst="rect">
              <a:avLst/>
            </a:prstGeom>
          </p:spPr>
          <p:txBody>
            <a:bodyPr anchor="ctr" rtlCol="false" tIns="50800" lIns="50800" bIns="50800" rIns="50800"/>
            <a:lstStyle/>
            <a:p>
              <a:pPr algn="ctr">
                <a:lnSpc>
                  <a:spcPts val="1760"/>
                </a:lnSpc>
              </a:pPr>
            </a:p>
          </p:txBody>
        </p:sp>
      </p:grpSp>
      <p:sp>
        <p:nvSpPr>
          <p:cNvPr name="Freeform 20" id="20"/>
          <p:cNvSpPr/>
          <p:nvPr/>
        </p:nvSpPr>
        <p:spPr>
          <a:xfrm flipH="false" flipV="false" rot="0">
            <a:off x="5671053" y="1972053"/>
            <a:ext cx="6945895" cy="6945895"/>
          </a:xfrm>
          <a:custGeom>
            <a:avLst/>
            <a:gdLst/>
            <a:ahLst/>
            <a:cxnLst/>
            <a:rect r="r" b="b" t="t" l="l"/>
            <a:pathLst>
              <a:path h="6945895" w="6945895">
                <a:moveTo>
                  <a:pt x="0" y="0"/>
                </a:moveTo>
                <a:lnTo>
                  <a:pt x="6945894" y="0"/>
                </a:lnTo>
                <a:lnTo>
                  <a:pt x="6945894" y="6945895"/>
                </a:lnTo>
                <a:lnTo>
                  <a:pt x="0" y="6945895"/>
                </a:lnTo>
                <a:lnTo>
                  <a:pt x="0" y="0"/>
                </a:lnTo>
                <a:close/>
              </a:path>
            </a:pathLst>
          </a:custGeom>
          <a:blipFill>
            <a:blip r:embed="rId5"/>
            <a:stretch>
              <a:fillRect l="0" t="0" r="0" b="0"/>
            </a:stretch>
          </a:blipFill>
        </p:spPr>
      </p:sp>
      <p:sp>
        <p:nvSpPr>
          <p:cNvPr name="TextBox 21" id="21"/>
          <p:cNvSpPr txBox="true"/>
          <p:nvPr/>
        </p:nvSpPr>
        <p:spPr>
          <a:xfrm rot="0">
            <a:off x="2468691" y="1541200"/>
            <a:ext cx="7825973" cy="594994"/>
          </a:xfrm>
          <a:prstGeom prst="rect">
            <a:avLst/>
          </a:prstGeom>
        </p:spPr>
        <p:txBody>
          <a:bodyPr anchor="t" rtlCol="false" tIns="0" lIns="0" bIns="0" rIns="0">
            <a:spAutoFit/>
          </a:bodyPr>
          <a:lstStyle/>
          <a:p>
            <a:pPr algn="l">
              <a:lnSpc>
                <a:spcPts val="4509"/>
              </a:lnSpc>
              <a:spcBef>
                <a:spcPct val="0"/>
              </a:spcBef>
            </a:pPr>
            <a:r>
              <a:rPr lang="en-US" b="true" sz="4099">
                <a:solidFill>
                  <a:srgbClr val="1A2F63"/>
                </a:solidFill>
                <a:latin typeface="League Spartan"/>
                <a:ea typeface="League Spartan"/>
                <a:cs typeface="League Spartan"/>
                <a:sym typeface="League Spartan"/>
              </a:rPr>
              <a:t>Let’s tackle the missing link</a:t>
            </a:r>
          </a:p>
        </p:txBody>
      </p:sp>
      <p:sp>
        <p:nvSpPr>
          <p:cNvPr name="TextBox 22" id="22"/>
          <p:cNvSpPr txBox="true"/>
          <p:nvPr/>
        </p:nvSpPr>
        <p:spPr>
          <a:xfrm rot="0">
            <a:off x="1336025" y="2855185"/>
            <a:ext cx="4630282" cy="410718"/>
          </a:xfrm>
          <a:prstGeom prst="rect">
            <a:avLst/>
          </a:prstGeom>
        </p:spPr>
        <p:txBody>
          <a:bodyPr anchor="t" rtlCol="false" tIns="0" lIns="0" bIns="0" rIns="0">
            <a:spAutoFit/>
          </a:bodyPr>
          <a:lstStyle/>
          <a:p>
            <a:pPr algn="l">
              <a:lnSpc>
                <a:spcPts val="3275"/>
              </a:lnSpc>
            </a:pPr>
            <a:r>
              <a:rPr lang="en-US" sz="2799">
                <a:solidFill>
                  <a:srgbClr val="000000"/>
                </a:solidFill>
                <a:latin typeface="League Spartan"/>
                <a:ea typeface="League Spartan"/>
                <a:cs typeface="League Spartan"/>
                <a:sym typeface="League Spartan"/>
              </a:rPr>
              <a:t>A label gives the name. </a:t>
            </a:r>
          </a:p>
        </p:txBody>
      </p:sp>
      <p:sp>
        <p:nvSpPr>
          <p:cNvPr name="TextBox 23" id="23"/>
          <p:cNvSpPr txBox="true"/>
          <p:nvPr/>
        </p:nvSpPr>
        <p:spPr>
          <a:xfrm rot="0">
            <a:off x="12791751" y="2341677"/>
            <a:ext cx="4491559" cy="2188210"/>
          </a:xfrm>
          <a:prstGeom prst="rect">
            <a:avLst/>
          </a:prstGeom>
        </p:spPr>
        <p:txBody>
          <a:bodyPr anchor="t" rtlCol="false" tIns="0" lIns="0" bIns="0" rIns="0">
            <a:spAutoFit/>
          </a:bodyPr>
          <a:lstStyle/>
          <a:p>
            <a:pPr algn="l">
              <a:lnSpc>
                <a:spcPts val="3079"/>
              </a:lnSpc>
              <a:spcBef>
                <a:spcPct val="0"/>
              </a:spcBef>
            </a:pPr>
            <a:r>
              <a:rPr lang="en-US" sz="2799">
                <a:solidFill>
                  <a:srgbClr val="000000">
                    <a:alpha val="83922"/>
                  </a:srgbClr>
                </a:solidFill>
                <a:latin typeface="League Spartan"/>
                <a:ea typeface="League Spartan"/>
                <a:cs typeface="League Spartan"/>
                <a:sym typeface="League Spartan"/>
              </a:rPr>
              <a:t>Spatial sound can be learned.</a:t>
            </a:r>
          </a:p>
          <a:p>
            <a:pPr algn="l">
              <a:lnSpc>
                <a:spcPts val="1869"/>
              </a:lnSpc>
              <a:spcBef>
                <a:spcPct val="0"/>
              </a:spcBef>
            </a:pPr>
          </a:p>
          <a:p>
            <a:pPr algn="l">
              <a:lnSpc>
                <a:spcPts val="3079"/>
              </a:lnSpc>
              <a:spcBef>
                <a:spcPct val="0"/>
              </a:spcBef>
            </a:pPr>
            <a:r>
              <a:rPr lang="en-US" sz="2799">
                <a:solidFill>
                  <a:srgbClr val="000000">
                    <a:alpha val="83922"/>
                  </a:srgbClr>
                </a:solidFill>
                <a:latin typeface="League Spartan"/>
                <a:ea typeface="League Spartan"/>
                <a:cs typeface="League Spartan"/>
                <a:sym typeface="League Spartan"/>
              </a:rPr>
              <a:t>After training, accuracy reached:</a:t>
            </a:r>
          </a:p>
          <a:p>
            <a:pPr algn="l">
              <a:lnSpc>
                <a:spcPts val="3079"/>
              </a:lnSpc>
              <a:spcBef>
                <a:spcPct val="0"/>
              </a:spcBef>
            </a:pPr>
          </a:p>
        </p:txBody>
      </p:sp>
      <p:sp>
        <p:nvSpPr>
          <p:cNvPr name="TextBox 24" id="24"/>
          <p:cNvSpPr txBox="true"/>
          <p:nvPr/>
        </p:nvSpPr>
        <p:spPr>
          <a:xfrm rot="0">
            <a:off x="1336025" y="4959033"/>
            <a:ext cx="4466868" cy="788035"/>
          </a:xfrm>
          <a:prstGeom prst="rect">
            <a:avLst/>
          </a:prstGeom>
        </p:spPr>
        <p:txBody>
          <a:bodyPr anchor="t" rtlCol="false" tIns="0" lIns="0" bIns="0" rIns="0">
            <a:spAutoFit/>
          </a:bodyPr>
          <a:lstStyle/>
          <a:p>
            <a:pPr algn="ctr">
              <a:lnSpc>
                <a:spcPts val="3079"/>
              </a:lnSpc>
              <a:spcBef>
                <a:spcPct val="0"/>
              </a:spcBef>
            </a:pPr>
            <a:r>
              <a:rPr lang="en-US" sz="2799">
                <a:solidFill>
                  <a:srgbClr val="000000">
                    <a:alpha val="69804"/>
                  </a:srgbClr>
                </a:solidFill>
                <a:latin typeface="League Spartan"/>
                <a:ea typeface="League Spartan"/>
                <a:cs typeface="League Spartan"/>
                <a:sym typeface="League Spartan"/>
              </a:rPr>
              <a:t>But w</a:t>
            </a:r>
            <a:r>
              <a:rPr lang="en-US" sz="2799">
                <a:solidFill>
                  <a:srgbClr val="000000">
                    <a:alpha val="69804"/>
                  </a:srgbClr>
                </a:solidFill>
                <a:latin typeface="League Spartan"/>
                <a:ea typeface="League Spartan"/>
                <a:cs typeface="League Spartan"/>
                <a:sym typeface="League Spartan"/>
              </a:rPr>
              <a:t>here does it point?</a:t>
            </a:r>
          </a:p>
          <a:p>
            <a:pPr algn="l">
              <a:lnSpc>
                <a:spcPts val="3079"/>
              </a:lnSpc>
              <a:spcBef>
                <a:spcPct val="0"/>
              </a:spcBef>
            </a:pPr>
          </a:p>
        </p:txBody>
      </p:sp>
      <p:sp>
        <p:nvSpPr>
          <p:cNvPr name="TextBox 25" id="25"/>
          <p:cNvSpPr txBox="true"/>
          <p:nvPr/>
        </p:nvSpPr>
        <p:spPr>
          <a:xfrm rot="0">
            <a:off x="13415451" y="4903663"/>
            <a:ext cx="3014424" cy="1149350"/>
          </a:xfrm>
          <a:prstGeom prst="rect">
            <a:avLst/>
          </a:prstGeom>
        </p:spPr>
        <p:txBody>
          <a:bodyPr anchor="t" rtlCol="false" tIns="0" lIns="0" bIns="0" rIns="0">
            <a:spAutoFit/>
          </a:bodyPr>
          <a:lstStyle/>
          <a:p>
            <a:pPr algn="ctr">
              <a:lnSpc>
                <a:spcPts val="8800"/>
              </a:lnSpc>
              <a:spcBef>
                <a:spcPct val="0"/>
              </a:spcBef>
            </a:pPr>
            <a:r>
              <a:rPr lang="en-US" sz="8000">
                <a:solidFill>
                  <a:srgbClr val="0263FA"/>
                </a:solidFill>
                <a:latin typeface="League Spartan"/>
                <a:ea typeface="League Spartan"/>
                <a:cs typeface="League Spartan"/>
                <a:sym typeface="League Spartan"/>
              </a:rPr>
              <a:t>73%+</a:t>
            </a:r>
          </a:p>
        </p:txBody>
      </p:sp>
      <p:sp>
        <p:nvSpPr>
          <p:cNvPr name="TextBox 26" id="26"/>
          <p:cNvSpPr txBox="true"/>
          <p:nvPr/>
        </p:nvSpPr>
        <p:spPr>
          <a:xfrm rot="0">
            <a:off x="12767741" y="6602685"/>
            <a:ext cx="4309843" cy="324485"/>
          </a:xfrm>
          <a:prstGeom prst="rect">
            <a:avLst/>
          </a:prstGeom>
        </p:spPr>
        <p:txBody>
          <a:bodyPr anchor="t" rtlCol="false" tIns="0" lIns="0" bIns="0" rIns="0">
            <a:spAutoFit/>
          </a:bodyPr>
          <a:lstStyle/>
          <a:p>
            <a:pPr algn="l">
              <a:lnSpc>
                <a:spcPts val="2530"/>
              </a:lnSpc>
              <a:spcBef>
                <a:spcPct val="0"/>
              </a:spcBef>
            </a:pPr>
            <a:r>
              <a:rPr lang="en-US" sz="2300">
                <a:solidFill>
                  <a:srgbClr val="000000">
                    <a:alpha val="36863"/>
                  </a:srgbClr>
                </a:solidFill>
                <a:latin typeface="League Spartan"/>
                <a:ea typeface="League Spartan"/>
                <a:cs typeface="League Spartan"/>
                <a:sym typeface="League Spartan"/>
              </a:rPr>
              <a:t>To</a:t>
            </a:r>
            <a:r>
              <a:rPr lang="en-US" sz="2300">
                <a:solidFill>
                  <a:srgbClr val="000000">
                    <a:alpha val="36863"/>
                  </a:srgbClr>
                </a:solidFill>
                <a:latin typeface="League Spartan"/>
                <a:ea typeface="League Spartan"/>
                <a:cs typeface="League Spartan"/>
                <a:sym typeface="League Spartan"/>
              </a:rPr>
              <a:t>po-Speech, 2023</a:t>
            </a:r>
          </a:p>
        </p:txBody>
      </p:sp>
      <p:grpSp>
        <p:nvGrpSpPr>
          <p:cNvPr name="Group 27" id="27"/>
          <p:cNvGrpSpPr/>
          <p:nvPr/>
        </p:nvGrpSpPr>
        <p:grpSpPr>
          <a:xfrm rot="0">
            <a:off x="1349929" y="6583635"/>
            <a:ext cx="4767355" cy="1165173"/>
            <a:chOff x="0" y="0"/>
            <a:chExt cx="6356474" cy="1553564"/>
          </a:xfrm>
        </p:grpSpPr>
        <p:sp>
          <p:nvSpPr>
            <p:cNvPr name="TextBox 28" id="28"/>
            <p:cNvSpPr txBox="true"/>
            <p:nvPr/>
          </p:nvSpPr>
          <p:spPr>
            <a:xfrm rot="0">
              <a:off x="18539" y="28575"/>
              <a:ext cx="6337935" cy="539538"/>
            </a:xfrm>
            <a:prstGeom prst="rect">
              <a:avLst/>
            </a:prstGeom>
          </p:spPr>
          <p:txBody>
            <a:bodyPr anchor="t" rtlCol="false" tIns="0" lIns="0" bIns="0" rIns="0">
              <a:spAutoFit/>
            </a:bodyPr>
            <a:lstStyle/>
            <a:p>
              <a:pPr algn="l">
                <a:lnSpc>
                  <a:spcPts val="3079"/>
                </a:lnSpc>
                <a:spcBef>
                  <a:spcPct val="0"/>
                </a:spcBef>
              </a:pPr>
              <a:r>
                <a:rPr lang="en-US" sz="2799">
                  <a:solidFill>
                    <a:srgbClr val="000000"/>
                  </a:solidFill>
                  <a:latin typeface="League Spartan"/>
                  <a:ea typeface="League Spartan"/>
                  <a:cs typeface="League Spartan"/>
                  <a:sym typeface="League Spartan"/>
                </a:rPr>
                <a:t>What if we gave people...</a:t>
              </a:r>
            </a:p>
          </p:txBody>
        </p:sp>
        <p:sp>
          <p:nvSpPr>
            <p:cNvPr name="TextBox 29" id="29"/>
            <p:cNvSpPr txBox="true"/>
            <p:nvPr/>
          </p:nvSpPr>
          <p:spPr>
            <a:xfrm rot="0">
              <a:off x="0" y="787331"/>
              <a:ext cx="5154771" cy="766233"/>
            </a:xfrm>
            <a:prstGeom prst="rect">
              <a:avLst/>
            </a:prstGeom>
          </p:spPr>
          <p:txBody>
            <a:bodyPr anchor="t" rtlCol="false" tIns="0" lIns="0" bIns="0" rIns="0">
              <a:spAutoFit/>
            </a:bodyPr>
            <a:lstStyle/>
            <a:p>
              <a:pPr algn="ctr">
                <a:lnSpc>
                  <a:spcPts val="4399"/>
                </a:lnSpc>
                <a:spcBef>
                  <a:spcPct val="0"/>
                </a:spcBef>
              </a:pPr>
              <a:r>
                <a:rPr lang="en-US" sz="3999">
                  <a:solidFill>
                    <a:srgbClr val="0263FA"/>
                  </a:solidFill>
                  <a:latin typeface="League Spartan"/>
                  <a:ea typeface="League Spartan"/>
                  <a:cs typeface="League Spartan"/>
                  <a:sym typeface="League Spartan"/>
                </a:rPr>
                <a:t>Superpowers?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784880" y="2904041"/>
            <a:ext cx="8532161" cy="5776286"/>
          </a:xfrm>
          <a:custGeom>
            <a:avLst/>
            <a:gdLst/>
            <a:ahLst/>
            <a:cxnLst/>
            <a:rect r="r" b="b" t="t" l="l"/>
            <a:pathLst>
              <a:path h="5776286" w="8532161">
                <a:moveTo>
                  <a:pt x="0" y="0"/>
                </a:moveTo>
                <a:lnTo>
                  <a:pt x="8532162" y="0"/>
                </a:lnTo>
                <a:lnTo>
                  <a:pt x="8532162" y="5776286"/>
                </a:lnTo>
                <a:lnTo>
                  <a:pt x="0" y="5776286"/>
                </a:lnTo>
                <a:lnTo>
                  <a:pt x="0" y="0"/>
                </a:lnTo>
                <a:close/>
              </a:path>
            </a:pathLst>
          </a:custGeom>
          <a:blipFill>
            <a:blip r:embed="rId4"/>
            <a:stretch>
              <a:fillRect l="-3936" t="-10176" r="-1640" b="-6784"/>
            </a:stretch>
          </a:blipFill>
        </p:spPr>
      </p:sp>
      <p:sp>
        <p:nvSpPr>
          <p:cNvPr name="Freeform 4" id="4"/>
          <p:cNvSpPr/>
          <p:nvPr/>
        </p:nvSpPr>
        <p:spPr>
          <a:xfrm flipH="false" flipV="false" rot="0">
            <a:off x="11522893" y="4320513"/>
            <a:ext cx="986494" cy="873565"/>
          </a:xfrm>
          <a:custGeom>
            <a:avLst/>
            <a:gdLst/>
            <a:ahLst/>
            <a:cxnLst/>
            <a:rect r="r" b="b" t="t" l="l"/>
            <a:pathLst>
              <a:path h="873565" w="986494">
                <a:moveTo>
                  <a:pt x="0" y="0"/>
                </a:moveTo>
                <a:lnTo>
                  <a:pt x="986494" y="0"/>
                </a:lnTo>
                <a:lnTo>
                  <a:pt x="986494" y="873565"/>
                </a:lnTo>
                <a:lnTo>
                  <a:pt x="0" y="873565"/>
                </a:lnTo>
                <a:lnTo>
                  <a:pt x="0" y="0"/>
                </a:lnTo>
                <a:close/>
              </a:path>
            </a:pathLst>
          </a:custGeom>
          <a:blipFill>
            <a:blip r:embed="rId5"/>
            <a:stretch>
              <a:fillRect l="-15265" t="-25567" r="-11950" b="-18093"/>
            </a:stretch>
          </a:blipFill>
        </p:spPr>
      </p:sp>
      <p:sp>
        <p:nvSpPr>
          <p:cNvPr name="Freeform 5" id="5"/>
          <p:cNvSpPr/>
          <p:nvPr/>
        </p:nvSpPr>
        <p:spPr>
          <a:xfrm flipH="false" flipV="false" rot="0">
            <a:off x="11322740" y="5435572"/>
            <a:ext cx="1303326" cy="1303326"/>
          </a:xfrm>
          <a:custGeom>
            <a:avLst/>
            <a:gdLst/>
            <a:ahLst/>
            <a:cxnLst/>
            <a:rect r="r" b="b" t="t" l="l"/>
            <a:pathLst>
              <a:path h="1303326" w="1303326">
                <a:moveTo>
                  <a:pt x="0" y="0"/>
                </a:moveTo>
                <a:lnTo>
                  <a:pt x="1303326" y="0"/>
                </a:lnTo>
                <a:lnTo>
                  <a:pt x="1303326" y="1303326"/>
                </a:lnTo>
                <a:lnTo>
                  <a:pt x="0" y="1303326"/>
                </a:lnTo>
                <a:lnTo>
                  <a:pt x="0" y="0"/>
                </a:lnTo>
                <a:close/>
              </a:path>
            </a:pathLst>
          </a:custGeom>
          <a:blipFill>
            <a:blip r:embed="rId6"/>
            <a:stretch>
              <a:fillRect l="0" t="0" r="0" b="0"/>
            </a:stretch>
          </a:blipFill>
        </p:spPr>
      </p:sp>
      <p:sp>
        <p:nvSpPr>
          <p:cNvPr name="Freeform 6" id="6"/>
          <p:cNvSpPr/>
          <p:nvPr/>
        </p:nvSpPr>
        <p:spPr>
          <a:xfrm flipH="false" flipV="false" rot="0">
            <a:off x="11366081" y="6980393"/>
            <a:ext cx="1143306" cy="1143306"/>
          </a:xfrm>
          <a:custGeom>
            <a:avLst/>
            <a:gdLst/>
            <a:ahLst/>
            <a:cxnLst/>
            <a:rect r="r" b="b" t="t" l="l"/>
            <a:pathLst>
              <a:path h="1143306" w="1143306">
                <a:moveTo>
                  <a:pt x="0" y="0"/>
                </a:moveTo>
                <a:lnTo>
                  <a:pt x="1143306" y="0"/>
                </a:lnTo>
                <a:lnTo>
                  <a:pt x="1143306" y="1143306"/>
                </a:lnTo>
                <a:lnTo>
                  <a:pt x="0" y="1143306"/>
                </a:lnTo>
                <a:lnTo>
                  <a:pt x="0" y="0"/>
                </a:lnTo>
                <a:close/>
              </a:path>
            </a:pathLst>
          </a:custGeom>
          <a:blipFill>
            <a:blip r:embed="rId7"/>
            <a:stretch>
              <a:fillRect l="0" t="0" r="0" b="0"/>
            </a:stretch>
          </a:blipFill>
        </p:spPr>
      </p:sp>
      <p:sp>
        <p:nvSpPr>
          <p:cNvPr name="Freeform 7" id="7"/>
          <p:cNvSpPr/>
          <p:nvPr/>
        </p:nvSpPr>
        <p:spPr>
          <a:xfrm flipH="false" flipV="false" rot="0">
            <a:off x="11712140" y="8680327"/>
            <a:ext cx="656235" cy="656235"/>
          </a:xfrm>
          <a:custGeom>
            <a:avLst/>
            <a:gdLst/>
            <a:ahLst/>
            <a:cxnLst/>
            <a:rect r="r" b="b" t="t" l="l"/>
            <a:pathLst>
              <a:path h="656235" w="656235">
                <a:moveTo>
                  <a:pt x="0" y="0"/>
                </a:moveTo>
                <a:lnTo>
                  <a:pt x="656235" y="0"/>
                </a:lnTo>
                <a:lnTo>
                  <a:pt x="656235" y="656235"/>
                </a:lnTo>
                <a:lnTo>
                  <a:pt x="0" y="656235"/>
                </a:lnTo>
                <a:lnTo>
                  <a:pt x="0" y="0"/>
                </a:lnTo>
                <a:close/>
              </a:path>
            </a:pathLst>
          </a:custGeom>
          <a:blipFill>
            <a:blip r:embed="rId8">
              <a:alphaModFix amt="55000"/>
            </a:blip>
            <a:stretch>
              <a:fillRect l="0" t="0" r="0" b="0"/>
            </a:stretch>
          </a:blipFill>
        </p:spPr>
      </p:sp>
      <p:sp>
        <p:nvSpPr>
          <p:cNvPr name="TextBox 8" id="8"/>
          <p:cNvSpPr txBox="true"/>
          <p:nvPr/>
        </p:nvSpPr>
        <p:spPr>
          <a:xfrm rot="0">
            <a:off x="883332" y="1796382"/>
            <a:ext cx="10335257" cy="659764"/>
          </a:xfrm>
          <a:prstGeom prst="rect">
            <a:avLst/>
          </a:prstGeom>
        </p:spPr>
        <p:txBody>
          <a:bodyPr anchor="t" rtlCol="false" tIns="0" lIns="0" bIns="0" rIns="0">
            <a:spAutoFit/>
          </a:bodyPr>
          <a:lstStyle/>
          <a:p>
            <a:pPr algn="l">
              <a:lnSpc>
                <a:spcPts val="5169"/>
              </a:lnSpc>
              <a:spcBef>
                <a:spcPct val="0"/>
              </a:spcBef>
            </a:pPr>
            <a:r>
              <a:rPr lang="en-US" b="true" sz="4699">
                <a:solidFill>
                  <a:srgbClr val="1A2F63"/>
                </a:solidFill>
                <a:latin typeface="League Spartan"/>
                <a:ea typeface="League Spartan"/>
                <a:cs typeface="League Spartan"/>
                <a:sym typeface="League Spartan"/>
              </a:rPr>
              <a:t>Two systems, one spacial map.</a:t>
            </a:r>
          </a:p>
        </p:txBody>
      </p:sp>
      <p:sp>
        <p:nvSpPr>
          <p:cNvPr name="TextBox 9" id="9"/>
          <p:cNvSpPr txBox="true"/>
          <p:nvPr/>
        </p:nvSpPr>
        <p:spPr>
          <a:xfrm rot="0">
            <a:off x="11983928" y="2013551"/>
            <a:ext cx="6285022" cy="742315"/>
          </a:xfrm>
          <a:prstGeom prst="rect">
            <a:avLst/>
          </a:prstGeom>
        </p:spPr>
        <p:txBody>
          <a:bodyPr anchor="t" rtlCol="false" tIns="0" lIns="0" bIns="0" rIns="0">
            <a:spAutoFit/>
          </a:bodyPr>
          <a:lstStyle/>
          <a:p>
            <a:pPr algn="l">
              <a:lnSpc>
                <a:spcPts val="5720"/>
              </a:lnSpc>
              <a:spcBef>
                <a:spcPct val="0"/>
              </a:spcBef>
            </a:pPr>
            <a:r>
              <a:rPr lang="en-US" b="true" sz="5200">
                <a:solidFill>
                  <a:srgbClr val="1A2F63"/>
                </a:solidFill>
                <a:latin typeface="League Spartan"/>
                <a:ea typeface="League Spartan"/>
                <a:cs typeface="League Spartan"/>
                <a:sym typeface="League Spartan"/>
              </a:rPr>
              <a:t>Meet Touch</a:t>
            </a:r>
            <a:r>
              <a:rPr lang="en-US" b="true" sz="5200">
                <a:solidFill>
                  <a:srgbClr val="0263FA"/>
                </a:solidFill>
                <a:latin typeface="League Spartan"/>
                <a:ea typeface="League Spartan"/>
                <a:cs typeface="League Spartan"/>
                <a:sym typeface="League Spartan"/>
              </a:rPr>
              <a:t>Sight</a:t>
            </a:r>
          </a:p>
        </p:txBody>
      </p:sp>
      <p:sp>
        <p:nvSpPr>
          <p:cNvPr name="TextBox 10" id="10"/>
          <p:cNvSpPr txBox="true"/>
          <p:nvPr/>
        </p:nvSpPr>
        <p:spPr>
          <a:xfrm rot="0">
            <a:off x="12002978" y="2894516"/>
            <a:ext cx="5256322" cy="857250"/>
          </a:xfrm>
          <a:prstGeom prst="rect">
            <a:avLst/>
          </a:prstGeom>
        </p:spPr>
        <p:txBody>
          <a:bodyPr anchor="t" rtlCol="false" tIns="0" lIns="0" bIns="0" rIns="0">
            <a:spAutoFit/>
          </a:bodyPr>
          <a:lstStyle/>
          <a:p>
            <a:pPr algn="l">
              <a:lnSpc>
                <a:spcPts val="3300"/>
              </a:lnSpc>
              <a:spcBef>
                <a:spcPct val="0"/>
              </a:spcBef>
            </a:pPr>
            <a:r>
              <a:rPr lang="en-US" b="true" sz="3000">
                <a:solidFill>
                  <a:srgbClr val="1A2F63">
                    <a:alpha val="63922"/>
                  </a:srgbClr>
                </a:solidFill>
                <a:latin typeface="League Spartan"/>
                <a:ea typeface="League Spartan"/>
                <a:cs typeface="League Spartan"/>
                <a:sym typeface="League Spartan"/>
              </a:rPr>
              <a:t>Explore imagery through sound.</a:t>
            </a:r>
          </a:p>
        </p:txBody>
      </p:sp>
      <p:sp>
        <p:nvSpPr>
          <p:cNvPr name="TextBox 11" id="11"/>
          <p:cNvSpPr txBox="true"/>
          <p:nvPr/>
        </p:nvSpPr>
        <p:spPr>
          <a:xfrm rot="0">
            <a:off x="12856297" y="4161983"/>
            <a:ext cx="4403003" cy="1162050"/>
          </a:xfrm>
          <a:prstGeom prst="rect">
            <a:avLst/>
          </a:prstGeom>
        </p:spPr>
        <p:txBody>
          <a:bodyPr anchor="t" rtlCol="false" tIns="0" lIns="0" bIns="0" rIns="0">
            <a:spAutoFit/>
          </a:bodyPr>
          <a:lstStyle/>
          <a:p>
            <a:pPr algn="l">
              <a:lnSpc>
                <a:spcPts val="3611"/>
              </a:lnSpc>
            </a:pPr>
            <a:r>
              <a:rPr lang="en-US" sz="2799">
                <a:solidFill>
                  <a:srgbClr val="1A2F63"/>
                </a:solidFill>
                <a:latin typeface="League Spartan"/>
                <a:ea typeface="League Spartan"/>
                <a:cs typeface="League Spartan"/>
                <a:sym typeface="League Spartan"/>
              </a:rPr>
              <a:t>Hear the layout</a:t>
            </a:r>
          </a:p>
          <a:p>
            <a:pPr algn="l">
              <a:lnSpc>
                <a:spcPts val="2837"/>
              </a:lnSpc>
            </a:pPr>
            <a:r>
              <a:rPr lang="en-US" sz="2199">
                <a:solidFill>
                  <a:srgbClr val="69789B"/>
                </a:solidFill>
                <a:latin typeface="League Spartan"/>
                <a:ea typeface="League Spartan"/>
                <a:cs typeface="League Spartan"/>
                <a:sym typeface="League Spartan"/>
              </a:rPr>
              <a:t>Spatial audio and spoken labels connect.</a:t>
            </a:r>
          </a:p>
        </p:txBody>
      </p:sp>
      <p:sp>
        <p:nvSpPr>
          <p:cNvPr name="TextBox 12" id="12"/>
          <p:cNvSpPr txBox="true"/>
          <p:nvPr/>
        </p:nvSpPr>
        <p:spPr>
          <a:xfrm rot="0">
            <a:off x="12856297" y="5585628"/>
            <a:ext cx="4403003" cy="1162050"/>
          </a:xfrm>
          <a:prstGeom prst="rect">
            <a:avLst/>
          </a:prstGeom>
        </p:spPr>
        <p:txBody>
          <a:bodyPr anchor="t" rtlCol="false" tIns="0" lIns="0" bIns="0" rIns="0">
            <a:spAutoFit/>
          </a:bodyPr>
          <a:lstStyle/>
          <a:p>
            <a:pPr algn="l">
              <a:lnSpc>
                <a:spcPts val="3611"/>
              </a:lnSpc>
            </a:pPr>
            <a:r>
              <a:rPr lang="en-US" sz="2799">
                <a:solidFill>
                  <a:srgbClr val="1A2F63"/>
                </a:solidFill>
                <a:latin typeface="League Spartan"/>
                <a:ea typeface="League Spartan"/>
                <a:cs typeface="League Spartan"/>
                <a:sym typeface="League Spartan"/>
              </a:rPr>
              <a:t>Teach </a:t>
            </a:r>
            <a:r>
              <a:rPr lang="en-US" sz="2799">
                <a:solidFill>
                  <a:srgbClr val="1A2F63"/>
                </a:solidFill>
                <a:latin typeface="League Spartan"/>
                <a:ea typeface="League Spartan"/>
                <a:cs typeface="League Spartan"/>
                <a:sym typeface="League Spartan"/>
              </a:rPr>
              <a:t>your way</a:t>
            </a:r>
          </a:p>
          <a:p>
            <a:pPr algn="l">
              <a:lnSpc>
                <a:spcPts val="2837"/>
              </a:lnSpc>
            </a:pPr>
            <a:r>
              <a:rPr lang="en-US" sz="2199">
                <a:solidFill>
                  <a:srgbClr val="69789B"/>
                </a:solidFill>
                <a:latin typeface="League Spartan"/>
                <a:ea typeface="League Spartan"/>
                <a:cs typeface="League Spartan"/>
                <a:sym typeface="League Spartan"/>
              </a:rPr>
              <a:t>Upload media, invite students, adjust experience.</a:t>
            </a:r>
          </a:p>
        </p:txBody>
      </p:sp>
      <p:sp>
        <p:nvSpPr>
          <p:cNvPr name="TextBox 13" id="13"/>
          <p:cNvSpPr txBox="true"/>
          <p:nvPr/>
        </p:nvSpPr>
        <p:spPr>
          <a:xfrm rot="0">
            <a:off x="12856297" y="7009273"/>
            <a:ext cx="4403003" cy="1866900"/>
          </a:xfrm>
          <a:prstGeom prst="rect">
            <a:avLst/>
          </a:prstGeom>
        </p:spPr>
        <p:txBody>
          <a:bodyPr anchor="t" rtlCol="false" tIns="0" lIns="0" bIns="0" rIns="0">
            <a:spAutoFit/>
          </a:bodyPr>
          <a:lstStyle/>
          <a:p>
            <a:pPr algn="l">
              <a:lnSpc>
                <a:spcPts val="3611"/>
              </a:lnSpc>
            </a:pPr>
            <a:r>
              <a:rPr lang="en-US" sz="2799">
                <a:solidFill>
                  <a:srgbClr val="1A2F63"/>
                </a:solidFill>
                <a:latin typeface="League Spartan"/>
                <a:ea typeface="League Spartan"/>
                <a:cs typeface="League Spartan"/>
                <a:sym typeface="League Spartan"/>
              </a:rPr>
              <a:t>On scre</a:t>
            </a:r>
            <a:r>
              <a:rPr lang="en-US" sz="2799">
                <a:solidFill>
                  <a:srgbClr val="1A2F63"/>
                </a:solidFill>
                <a:latin typeface="League Spartan"/>
                <a:ea typeface="League Spartan"/>
                <a:cs typeface="League Spartan"/>
                <a:sym typeface="League Spartan"/>
              </a:rPr>
              <a:t>en or on paper</a:t>
            </a:r>
          </a:p>
          <a:p>
            <a:pPr algn="l">
              <a:lnSpc>
                <a:spcPts val="2837"/>
              </a:lnSpc>
            </a:pPr>
            <a:r>
              <a:rPr lang="en-US" sz="2199">
                <a:solidFill>
                  <a:srgbClr val="69789B"/>
                </a:solidFill>
                <a:latin typeface="League Spartan"/>
                <a:ea typeface="League Spartan"/>
                <a:cs typeface="League Spartan"/>
                <a:sym typeface="League Spartan"/>
              </a:rPr>
              <a:t>L</a:t>
            </a:r>
            <a:r>
              <a:rPr lang="en-US" sz="2199">
                <a:solidFill>
                  <a:srgbClr val="69789B"/>
                </a:solidFill>
                <a:latin typeface="League Spartan"/>
                <a:ea typeface="League Spartan"/>
                <a:cs typeface="League Spartan"/>
                <a:sym typeface="League Spartan"/>
              </a:rPr>
              <a:t>ightweight browser, or printable paper.</a:t>
            </a:r>
          </a:p>
          <a:p>
            <a:pPr algn="l">
              <a:lnSpc>
                <a:spcPts val="2837"/>
              </a:lnSpc>
            </a:pPr>
          </a:p>
          <a:p>
            <a:pPr algn="l">
              <a:lnSpc>
                <a:spcPts val="2837"/>
              </a:lnSpc>
            </a:pPr>
          </a:p>
        </p:txBody>
      </p:sp>
      <p:sp>
        <p:nvSpPr>
          <p:cNvPr name="TextBox 14" id="14"/>
          <p:cNvSpPr txBox="true"/>
          <p:nvPr/>
        </p:nvSpPr>
        <p:spPr>
          <a:xfrm rot="0">
            <a:off x="12611911" y="8893018"/>
            <a:ext cx="3379827" cy="302895"/>
          </a:xfrm>
          <a:prstGeom prst="rect">
            <a:avLst/>
          </a:prstGeom>
        </p:spPr>
        <p:txBody>
          <a:bodyPr anchor="t" rtlCol="false" tIns="0" lIns="0" bIns="0" rIns="0">
            <a:spAutoFit/>
          </a:bodyPr>
          <a:lstStyle/>
          <a:p>
            <a:pPr algn="ctr">
              <a:lnSpc>
                <a:spcPts val="2309"/>
              </a:lnSpc>
              <a:spcBef>
                <a:spcPct val="0"/>
              </a:spcBef>
            </a:pPr>
            <a:r>
              <a:rPr lang="en-US" sz="2099">
                <a:solidFill>
                  <a:srgbClr val="A6A6A6"/>
                </a:solidFill>
                <a:latin typeface="League Spartan"/>
                <a:ea typeface="League Spartan"/>
                <a:cs typeface="League Spartan"/>
                <a:sym typeface="League Spartan"/>
              </a:rPr>
              <a:t>Fully private and offline.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0" y="0"/>
            <a:ext cx="18288000" cy="1027897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028700" y="1575228"/>
            <a:ext cx="12283209" cy="909954"/>
          </a:xfrm>
          <a:prstGeom prst="rect">
            <a:avLst/>
          </a:prstGeom>
        </p:spPr>
        <p:txBody>
          <a:bodyPr anchor="t" rtlCol="false" tIns="0" lIns="0" bIns="0" rIns="0">
            <a:spAutoFit/>
          </a:bodyPr>
          <a:lstStyle/>
          <a:p>
            <a:pPr algn="l">
              <a:lnSpc>
                <a:spcPts val="7039"/>
              </a:lnSpc>
              <a:spcBef>
                <a:spcPct val="0"/>
              </a:spcBef>
            </a:pPr>
            <a:r>
              <a:rPr lang="en-US" b="true" sz="6399">
                <a:solidFill>
                  <a:srgbClr val="1A2F63"/>
                </a:solidFill>
                <a:latin typeface="League Spartan"/>
                <a:ea typeface="League Spartan"/>
                <a:cs typeface="League Spartan"/>
                <a:sym typeface="League Spartan"/>
              </a:rPr>
              <a:t>Where TouchSight goes </a:t>
            </a:r>
            <a:r>
              <a:rPr lang="en-US" b="true" sz="6399">
                <a:solidFill>
                  <a:srgbClr val="0263FA"/>
                </a:solidFill>
                <a:latin typeface="League Spartan"/>
                <a:ea typeface="League Spartan"/>
                <a:cs typeface="League Spartan"/>
                <a:sym typeface="League Spartan"/>
              </a:rPr>
              <a:t>next</a:t>
            </a:r>
          </a:p>
        </p:txBody>
      </p:sp>
      <p:sp>
        <p:nvSpPr>
          <p:cNvPr name="TextBox 4" id="4"/>
          <p:cNvSpPr txBox="true"/>
          <p:nvPr/>
        </p:nvSpPr>
        <p:spPr>
          <a:xfrm rot="0">
            <a:off x="1594077" y="5133975"/>
            <a:ext cx="4355658" cy="470535"/>
          </a:xfrm>
          <a:prstGeom prst="rect">
            <a:avLst/>
          </a:prstGeom>
        </p:spPr>
        <p:txBody>
          <a:bodyPr anchor="t" rtlCol="false" tIns="0" lIns="0" bIns="0" rIns="0">
            <a:spAutoFit/>
          </a:bodyPr>
          <a:lstStyle/>
          <a:p>
            <a:pPr algn="l">
              <a:lnSpc>
                <a:spcPts val="3629"/>
              </a:lnSpc>
              <a:spcBef>
                <a:spcPct val="0"/>
              </a:spcBef>
            </a:pPr>
            <a:r>
              <a:rPr lang="en-US" b="true" sz="3299">
                <a:solidFill>
                  <a:srgbClr val="1A2F63"/>
                </a:solidFill>
                <a:latin typeface="League Spartan"/>
                <a:ea typeface="League Spartan"/>
                <a:cs typeface="League Spartan"/>
                <a:sym typeface="League Spartan"/>
              </a:rPr>
              <a:t>Working prototype</a:t>
            </a:r>
          </a:p>
        </p:txBody>
      </p:sp>
      <p:sp>
        <p:nvSpPr>
          <p:cNvPr name="TextBox 5" id="5"/>
          <p:cNvSpPr txBox="true"/>
          <p:nvPr/>
        </p:nvSpPr>
        <p:spPr>
          <a:xfrm rot="0">
            <a:off x="2249885" y="4746625"/>
            <a:ext cx="3044042" cy="292100"/>
          </a:xfrm>
          <a:prstGeom prst="rect">
            <a:avLst/>
          </a:prstGeom>
        </p:spPr>
        <p:txBody>
          <a:bodyPr anchor="t" rtlCol="false" tIns="0" lIns="0" bIns="0" rIns="0">
            <a:spAutoFit/>
          </a:bodyPr>
          <a:lstStyle/>
          <a:p>
            <a:pPr algn="l">
              <a:lnSpc>
                <a:spcPts val="2200"/>
              </a:lnSpc>
              <a:spcBef>
                <a:spcPct val="0"/>
              </a:spcBef>
            </a:pPr>
            <a:r>
              <a:rPr lang="en-US" b="true" sz="2000">
                <a:solidFill>
                  <a:srgbClr val="69789B"/>
                </a:solidFill>
                <a:latin typeface="League Spartan"/>
                <a:ea typeface="League Spartan"/>
                <a:cs typeface="League Spartan"/>
                <a:sym typeface="League Spartan"/>
              </a:rPr>
              <a:t>BUILT IN HELLOHACKS</a:t>
            </a:r>
          </a:p>
        </p:txBody>
      </p:sp>
      <p:sp>
        <p:nvSpPr>
          <p:cNvPr name="TextBox 6" id="6"/>
          <p:cNvSpPr txBox="true"/>
          <p:nvPr/>
        </p:nvSpPr>
        <p:spPr>
          <a:xfrm rot="0">
            <a:off x="7313179" y="5133975"/>
            <a:ext cx="4355658" cy="470535"/>
          </a:xfrm>
          <a:prstGeom prst="rect">
            <a:avLst/>
          </a:prstGeom>
        </p:spPr>
        <p:txBody>
          <a:bodyPr anchor="t" rtlCol="false" tIns="0" lIns="0" bIns="0" rIns="0">
            <a:spAutoFit/>
          </a:bodyPr>
          <a:lstStyle/>
          <a:p>
            <a:pPr algn="l">
              <a:lnSpc>
                <a:spcPts val="3629"/>
              </a:lnSpc>
              <a:spcBef>
                <a:spcPct val="0"/>
              </a:spcBef>
            </a:pPr>
            <a:r>
              <a:rPr lang="en-US" b="true" sz="3299">
                <a:solidFill>
                  <a:srgbClr val="1A2F63"/>
                </a:solidFill>
                <a:latin typeface="League Spartan"/>
                <a:ea typeface="League Spartan"/>
                <a:cs typeface="League Spartan"/>
                <a:sym typeface="League Spartan"/>
              </a:rPr>
              <a:t>Wider possibilities</a:t>
            </a:r>
          </a:p>
        </p:txBody>
      </p:sp>
      <p:sp>
        <p:nvSpPr>
          <p:cNvPr name="TextBox 7" id="7"/>
          <p:cNvSpPr txBox="true"/>
          <p:nvPr/>
        </p:nvSpPr>
        <p:spPr>
          <a:xfrm rot="0">
            <a:off x="7807432" y="4746625"/>
            <a:ext cx="3044042" cy="292100"/>
          </a:xfrm>
          <a:prstGeom prst="rect">
            <a:avLst/>
          </a:prstGeom>
        </p:spPr>
        <p:txBody>
          <a:bodyPr anchor="t" rtlCol="false" tIns="0" lIns="0" bIns="0" rIns="0">
            <a:spAutoFit/>
          </a:bodyPr>
          <a:lstStyle/>
          <a:p>
            <a:pPr algn="ctr">
              <a:lnSpc>
                <a:spcPts val="2200"/>
              </a:lnSpc>
              <a:spcBef>
                <a:spcPct val="0"/>
              </a:spcBef>
            </a:pPr>
            <a:r>
              <a:rPr lang="en-US" b="true" sz="2000">
                <a:solidFill>
                  <a:srgbClr val="69789B"/>
                </a:solidFill>
                <a:latin typeface="League Spartan"/>
                <a:ea typeface="League Spartan"/>
                <a:cs typeface="League Spartan"/>
                <a:sym typeface="League Spartan"/>
              </a:rPr>
              <a:t>POTENTIAL USE CASES</a:t>
            </a:r>
          </a:p>
        </p:txBody>
      </p:sp>
      <p:sp>
        <p:nvSpPr>
          <p:cNvPr name="TextBox 8" id="8"/>
          <p:cNvSpPr txBox="true"/>
          <p:nvPr/>
        </p:nvSpPr>
        <p:spPr>
          <a:xfrm rot="0">
            <a:off x="13030912" y="5133975"/>
            <a:ext cx="4355658" cy="470535"/>
          </a:xfrm>
          <a:prstGeom prst="rect">
            <a:avLst/>
          </a:prstGeom>
        </p:spPr>
        <p:txBody>
          <a:bodyPr anchor="t" rtlCol="false" tIns="0" lIns="0" bIns="0" rIns="0">
            <a:spAutoFit/>
          </a:bodyPr>
          <a:lstStyle/>
          <a:p>
            <a:pPr algn="ctr">
              <a:lnSpc>
                <a:spcPts val="3629"/>
              </a:lnSpc>
              <a:spcBef>
                <a:spcPct val="0"/>
              </a:spcBef>
            </a:pPr>
            <a:r>
              <a:rPr lang="en-US" b="true" sz="3299">
                <a:solidFill>
                  <a:srgbClr val="1A2F63"/>
                </a:solidFill>
                <a:latin typeface="League Spartan"/>
                <a:ea typeface="League Spartan"/>
                <a:cs typeface="League Spartan"/>
                <a:sym typeface="League Spartan"/>
              </a:rPr>
              <a:t>Build with users</a:t>
            </a:r>
          </a:p>
        </p:txBody>
      </p:sp>
      <p:sp>
        <p:nvSpPr>
          <p:cNvPr name="TextBox 9" id="9"/>
          <p:cNvSpPr txBox="true"/>
          <p:nvPr/>
        </p:nvSpPr>
        <p:spPr>
          <a:xfrm rot="0">
            <a:off x="13686720" y="4746625"/>
            <a:ext cx="3044042" cy="292100"/>
          </a:xfrm>
          <a:prstGeom prst="rect">
            <a:avLst/>
          </a:prstGeom>
        </p:spPr>
        <p:txBody>
          <a:bodyPr anchor="t" rtlCol="false" tIns="0" lIns="0" bIns="0" rIns="0">
            <a:spAutoFit/>
          </a:bodyPr>
          <a:lstStyle/>
          <a:p>
            <a:pPr algn="ctr">
              <a:lnSpc>
                <a:spcPts val="2200"/>
              </a:lnSpc>
              <a:spcBef>
                <a:spcPct val="0"/>
              </a:spcBef>
            </a:pPr>
            <a:r>
              <a:rPr lang="en-US" b="true" sz="2000">
                <a:solidFill>
                  <a:srgbClr val="69789B"/>
                </a:solidFill>
                <a:latin typeface="League Spartan"/>
                <a:ea typeface="League Spartan"/>
                <a:cs typeface="League Spartan"/>
                <a:sym typeface="League Spartan"/>
              </a:rPr>
              <a:t>NEXT STEPS</a:t>
            </a:r>
          </a:p>
        </p:txBody>
      </p:sp>
      <p:sp>
        <p:nvSpPr>
          <p:cNvPr name="TextBox 10" id="10"/>
          <p:cNvSpPr txBox="true"/>
          <p:nvPr/>
        </p:nvSpPr>
        <p:spPr>
          <a:xfrm rot="0">
            <a:off x="2158670" y="5881770"/>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Explore a mapped image</a:t>
            </a:r>
          </a:p>
        </p:txBody>
      </p:sp>
      <p:sp>
        <p:nvSpPr>
          <p:cNvPr name="TextBox 11" id="11"/>
          <p:cNvSpPr txBox="true"/>
          <p:nvPr/>
        </p:nvSpPr>
        <p:spPr>
          <a:xfrm rot="0">
            <a:off x="2158670" y="6660369"/>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Customize regions</a:t>
            </a:r>
          </a:p>
        </p:txBody>
      </p:sp>
      <p:sp>
        <p:nvSpPr>
          <p:cNvPr name="TextBox 12" id="12"/>
          <p:cNvSpPr txBox="true"/>
          <p:nvPr/>
        </p:nvSpPr>
        <p:spPr>
          <a:xfrm rot="0">
            <a:off x="2158670" y="7443324"/>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Export printable copies</a:t>
            </a:r>
          </a:p>
        </p:txBody>
      </p:sp>
      <p:sp>
        <p:nvSpPr>
          <p:cNvPr name="TextBox 13" id="13"/>
          <p:cNvSpPr txBox="true"/>
          <p:nvPr/>
        </p:nvSpPr>
        <p:spPr>
          <a:xfrm rot="0">
            <a:off x="1725144" y="8097691"/>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alpha val="49804"/>
                  </a:srgbClr>
                </a:solidFill>
                <a:latin typeface="League Spartan"/>
                <a:ea typeface="League Spartan"/>
                <a:cs typeface="League Spartan"/>
                <a:sym typeface="League Spartan"/>
              </a:rPr>
              <a:t>Demonstrated in demo.</a:t>
            </a:r>
          </a:p>
        </p:txBody>
      </p:sp>
      <p:sp>
        <p:nvSpPr>
          <p:cNvPr name="TextBox 14" id="14"/>
          <p:cNvSpPr txBox="true"/>
          <p:nvPr/>
        </p:nvSpPr>
        <p:spPr>
          <a:xfrm rot="0">
            <a:off x="8086888" y="5996070"/>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Learning diagrams</a:t>
            </a:r>
          </a:p>
        </p:txBody>
      </p:sp>
      <p:sp>
        <p:nvSpPr>
          <p:cNvPr name="TextBox 15" id="15"/>
          <p:cNvSpPr txBox="true"/>
          <p:nvPr/>
        </p:nvSpPr>
        <p:spPr>
          <a:xfrm rot="0">
            <a:off x="8086888" y="6774669"/>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Charts and infographics</a:t>
            </a:r>
          </a:p>
        </p:txBody>
      </p:sp>
      <p:sp>
        <p:nvSpPr>
          <p:cNvPr name="TextBox 16" id="16"/>
          <p:cNvSpPr txBox="true"/>
          <p:nvPr/>
        </p:nvSpPr>
        <p:spPr>
          <a:xfrm rot="0">
            <a:off x="8086888" y="7557624"/>
            <a:ext cx="4093525" cy="344805"/>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Maps and visual guides</a:t>
            </a:r>
          </a:p>
        </p:txBody>
      </p:sp>
      <p:sp>
        <p:nvSpPr>
          <p:cNvPr name="TextBox 17" id="17"/>
          <p:cNvSpPr txBox="true"/>
          <p:nvPr/>
        </p:nvSpPr>
        <p:spPr>
          <a:xfrm rot="0">
            <a:off x="14018739" y="5829383"/>
            <a:ext cx="4093525" cy="678180"/>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Test with visually impared users</a:t>
            </a:r>
          </a:p>
        </p:txBody>
      </p:sp>
      <p:sp>
        <p:nvSpPr>
          <p:cNvPr name="TextBox 18" id="18"/>
          <p:cNvSpPr txBox="true"/>
          <p:nvPr/>
        </p:nvSpPr>
        <p:spPr>
          <a:xfrm rot="0">
            <a:off x="14018739" y="6772490"/>
            <a:ext cx="4093525" cy="678180"/>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Automate region-label mapping</a:t>
            </a:r>
          </a:p>
        </p:txBody>
      </p:sp>
      <p:sp>
        <p:nvSpPr>
          <p:cNvPr name="TextBox 19" id="19"/>
          <p:cNvSpPr txBox="true"/>
          <p:nvPr/>
        </p:nvSpPr>
        <p:spPr>
          <a:xfrm rot="0">
            <a:off x="14018739" y="7739551"/>
            <a:ext cx="4093525" cy="678180"/>
          </a:xfrm>
          <a:prstGeom prst="rect">
            <a:avLst/>
          </a:prstGeom>
        </p:spPr>
        <p:txBody>
          <a:bodyPr anchor="t" rtlCol="false" tIns="0" lIns="0" bIns="0" rIns="0">
            <a:spAutoFit/>
          </a:bodyPr>
          <a:lstStyle/>
          <a:p>
            <a:pPr algn="l">
              <a:lnSpc>
                <a:spcPts val="2640"/>
              </a:lnSpc>
              <a:spcBef>
                <a:spcPct val="0"/>
              </a:spcBef>
            </a:pPr>
            <a:r>
              <a:rPr lang="en-US" b="true" sz="2400">
                <a:solidFill>
                  <a:srgbClr val="69789B"/>
                </a:solidFill>
                <a:latin typeface="League Spartan"/>
                <a:ea typeface="League Spartan"/>
                <a:cs typeface="League Spartan"/>
                <a:sym typeface="League Spartan"/>
              </a:rPr>
              <a:t>Measure accuracy and ease of use</a:t>
            </a:r>
          </a:p>
        </p:txBody>
      </p:sp>
      <p:sp>
        <p:nvSpPr>
          <p:cNvPr name="TextBox 20" id="20"/>
          <p:cNvSpPr txBox="true"/>
          <p:nvPr/>
        </p:nvSpPr>
        <p:spPr>
          <a:xfrm rot="0">
            <a:off x="1949311" y="8998756"/>
            <a:ext cx="14760286" cy="470535"/>
          </a:xfrm>
          <a:prstGeom prst="rect">
            <a:avLst/>
          </a:prstGeom>
        </p:spPr>
        <p:txBody>
          <a:bodyPr anchor="t" rtlCol="false" tIns="0" lIns="0" bIns="0" rIns="0">
            <a:spAutoFit/>
          </a:bodyPr>
          <a:lstStyle/>
          <a:p>
            <a:pPr algn="l">
              <a:lnSpc>
                <a:spcPts val="3629"/>
              </a:lnSpc>
              <a:spcBef>
                <a:spcPct val="0"/>
              </a:spcBef>
            </a:pPr>
            <a:r>
              <a:rPr lang="en-US" b="true" sz="3299">
                <a:solidFill>
                  <a:srgbClr val="1A2F63"/>
                </a:solidFill>
                <a:latin typeface="League Spartan"/>
                <a:ea typeface="League Spartan"/>
                <a:cs typeface="League Spartan"/>
                <a:sym typeface="League Spartan"/>
              </a:rPr>
              <a:t>Our goal: more </a:t>
            </a:r>
            <a:r>
              <a:rPr lang="en-US" b="true" sz="3299">
                <a:solidFill>
                  <a:srgbClr val="0263FA"/>
                </a:solidFill>
                <a:latin typeface="League Spartan"/>
                <a:ea typeface="League Spartan"/>
                <a:cs typeface="League Spartan"/>
                <a:sym typeface="League Spartan"/>
              </a:rPr>
              <a:t>independence</a:t>
            </a:r>
            <a:r>
              <a:rPr lang="en-US" b="true" sz="3299">
                <a:solidFill>
                  <a:srgbClr val="1A2F63"/>
                </a:solidFill>
                <a:latin typeface="League Spartan"/>
                <a:ea typeface="League Spartan"/>
                <a:cs typeface="League Spartan"/>
                <a:sym typeface="League Spartan"/>
              </a:rPr>
              <a:t> when exploring visual information.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5589670" y="4412026"/>
            <a:ext cx="6704273" cy="3680264"/>
          </a:xfrm>
          <a:custGeom>
            <a:avLst/>
            <a:gdLst/>
            <a:ahLst/>
            <a:cxnLst/>
            <a:rect r="r" b="b" t="t" l="l"/>
            <a:pathLst>
              <a:path h="3680264" w="6704273">
                <a:moveTo>
                  <a:pt x="0" y="0"/>
                </a:moveTo>
                <a:lnTo>
                  <a:pt x="6704272" y="0"/>
                </a:lnTo>
                <a:lnTo>
                  <a:pt x="6704272" y="3680263"/>
                </a:lnTo>
                <a:lnTo>
                  <a:pt x="0" y="3680263"/>
                </a:lnTo>
                <a:lnTo>
                  <a:pt x="0" y="0"/>
                </a:lnTo>
                <a:close/>
              </a:path>
            </a:pathLst>
          </a:custGeom>
          <a:blipFill>
            <a:blip r:embed="rId4"/>
            <a:stretch>
              <a:fillRect l="0" t="-4519" r="0" b="0"/>
            </a:stretch>
          </a:blipFill>
        </p:spPr>
      </p:sp>
      <p:sp>
        <p:nvSpPr>
          <p:cNvPr name="TextBox 4" id="4"/>
          <p:cNvSpPr txBox="true"/>
          <p:nvPr/>
        </p:nvSpPr>
        <p:spPr>
          <a:xfrm rot="0">
            <a:off x="5240600" y="3366494"/>
            <a:ext cx="7806799" cy="909954"/>
          </a:xfrm>
          <a:prstGeom prst="rect">
            <a:avLst/>
          </a:prstGeom>
        </p:spPr>
        <p:txBody>
          <a:bodyPr anchor="t" rtlCol="false" tIns="0" lIns="0" bIns="0" rIns="0">
            <a:spAutoFit/>
          </a:bodyPr>
          <a:lstStyle/>
          <a:p>
            <a:pPr algn="l">
              <a:lnSpc>
                <a:spcPts val="7039"/>
              </a:lnSpc>
              <a:spcBef>
                <a:spcPct val="0"/>
              </a:spcBef>
            </a:pPr>
            <a:r>
              <a:rPr lang="en-US" b="true" sz="6399">
                <a:solidFill>
                  <a:srgbClr val="1A2F63"/>
                </a:solidFill>
                <a:latin typeface="League Spartan"/>
                <a:ea typeface="League Spartan"/>
                <a:cs typeface="League Spartan"/>
                <a:sym typeface="League Spartan"/>
              </a:rPr>
              <a:t>Thank you judges!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32885" y="4143404"/>
            <a:ext cx="10222231" cy="2143068"/>
          </a:xfrm>
          <a:prstGeom prst="rect">
            <a:avLst/>
          </a:prstGeom>
        </p:spPr>
        <p:txBody>
          <a:bodyPr anchor="t" rtlCol="false" tIns="0" lIns="0" bIns="0" rIns="0">
            <a:spAutoFit/>
          </a:bodyPr>
          <a:lstStyle/>
          <a:p>
            <a:pPr algn="ctr">
              <a:lnSpc>
                <a:spcPts val="16500"/>
              </a:lnSpc>
            </a:pPr>
            <a:r>
              <a:rPr lang="en-US" sz="15000" b="true">
                <a:solidFill>
                  <a:srgbClr val="000000"/>
                </a:solidFill>
                <a:latin typeface="League Spartan"/>
                <a:ea typeface="League Spartan"/>
                <a:cs typeface="League Spartan"/>
                <a:sym typeface="League Spartan"/>
              </a:rPr>
              <a:t>APPENDIX</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Can people learn the sounds?</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A1</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Research supports the idea. TouchSight still needs user testing.</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73.39% accuracy</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Topo-Speech participants identified locations after training.</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21 adults analyzed</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Blind and low-vision participants completed a 3 × 3 location task.</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11.1% chance level</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The study supports learnable sound-to-location associations.</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Different system, adult lab study. This is not TouchSight accuracy or proof of learning gains.</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Source: Topo-Speech, Frontiers in Human Neuroscience, 2023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How would someone use it without sight?</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A2</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Sound gives position. Speech names the selected region.</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Listen for location</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Stereo indicates left/right. Higher pitch means higher on the image.</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Move between parts</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Use the trackpad or arrow keys. Tab selects the next region.</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Practice with feedback</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F starts a find-it challenge. Edge thunks and spoken labels guide exploration.</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Headphones preserve stereo cues. Pitch alone does not convey left/right.</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prototype: explorer controls and audio implementation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What is different from existing tools?</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A3</a:t>
            </a:r>
          </a:p>
        </p:txBody>
      </p:sp>
      <p:sp>
        <p:nvSpPr>
          <p:cNvPr name="TextBox 6" id="6"/>
          <p:cNvSpPr txBox="true"/>
          <p:nvPr/>
        </p:nvSpPr>
        <p:spPr>
          <a:xfrm rot="0">
            <a:off x="1524000" y="2962275"/>
            <a:ext cx="14763750" cy="103822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Our focus is a customizable workflow for exploring mapped visuals on any device.</a:t>
            </a:r>
          </a:p>
        </p:txBody>
      </p:sp>
      <p:sp>
        <p:nvSpPr>
          <p:cNvPr name="TextBox 7" id="7"/>
          <p:cNvSpPr txBox="true"/>
          <p:nvPr/>
        </p:nvSpPr>
        <p:spPr>
          <a:xfrm rot="0">
            <a:off x="1524000" y="4524375"/>
            <a:ext cx="4572000" cy="9239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Existing tools already help</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Seeing AI describes images and supports photo exploration.</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TouchSight's focus</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Editable regions, continuous position cues and a target-finding game.</a:t>
            </a:r>
          </a:p>
        </p:txBody>
      </p:sp>
      <p:sp>
        <p:nvSpPr>
          <p:cNvPr name="TextBox 11" id="11"/>
          <p:cNvSpPr txBox="true"/>
          <p:nvPr/>
        </p:nvSpPr>
        <p:spPr>
          <a:xfrm rot="0">
            <a:off x="1524000" y="6905625"/>
            <a:ext cx="4572000" cy="9239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No touchscreen needed</a:t>
            </a:r>
          </a:p>
        </p:txBody>
      </p:sp>
      <p:sp>
        <p:nvSpPr>
          <p:cNvPr name="TextBox 12" id="12"/>
          <p:cNvSpPr txBox="true"/>
          <p:nvPr/>
        </p:nvSpPr>
        <p:spPr>
          <a:xfrm rot="0">
            <a:off x="6286500" y="6915150"/>
            <a:ext cx="10505974" cy="13144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Similar programs using ticks to identify walls only exist on mobile devices with absolute coordinates (ipads, tablets, etc)</a:t>
            </a:r>
          </a:p>
        </p:txBody>
      </p:sp>
      <p:sp>
        <p:nvSpPr>
          <p:cNvPr name="TextBox 13" id="13"/>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Sources: Seeing AI official site; Microsoft Accessibility Blog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Can someone upload their own image?</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A4</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Yes. A person prepares the regions and labels in the editor.</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Upload a PNG or JPG</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The current upload limit is 10 MB per image.</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Trace and explain</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Mark the regions, name them and add the explanation users will hear.</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Preview and refine</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Explore the result, adjust the map and export when ready.</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Automatic region detection and label matching are future work. Setup time varies by image.</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prototype: image uploader, region editor and prepared cell annotations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What did you build, and where is the AI?</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A5</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The core is interactive geometry and audio, with local voice input.</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Exploration and practice</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Region detection drives sound, spoken labels and the timed find-it game.</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Authoring and export</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The editor saves mapped images and creates printable SVG outlines.</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Voice questions</a:t>
            </a:r>
          </a:p>
        </p:txBody>
      </p:sp>
      <p:sp>
        <p:nvSpPr>
          <p:cNvPr name="TextBox 12" id="12"/>
          <p:cNvSpPr txBox="true"/>
          <p:nvPr/>
        </p:nvSpPr>
        <p:spPr>
          <a:xfrm rot="0">
            <a:off x="6286500" y="6915150"/>
            <a:ext cx="10287000" cy="87630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Whisper transcribes locally. Answers use a local llm model ollama</a:t>
            </a:r>
          </a:p>
        </p:txBody>
      </p:sp>
      <p:sp>
        <p:nvSpPr>
          <p:cNvPr name="TextBox 13" id="13"/>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prototype: exploration, authoring and voice input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How private and secure is it?</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A6</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The app stores its working data in the user's browser.</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Local app storage</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Images, preferences and session records use IndexedDB on that browser.</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Local voice transcription</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Whisper processes the recording on the device after its model downloads.</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Clear security limits</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Profiles are local selections. School account security and cloud sync are future work.</a:t>
            </a:r>
          </a:p>
        </p:txBody>
      </p:sp>
      <p:sp>
        <p:nvSpPr>
          <p:cNvPr name="TextBox 13" id="13"/>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prototype: browser storage, microphone and speech code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What devices and internet does it need?</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A7</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The current experience is built around a laptop browser.</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Everyday controls</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Explore with a keyboard or trackpad and audio output.</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Voice has extra requirements</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Microphone permission, a model download and WebGPU support are needed.</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Offline use needs preparation</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A local app setup, downloaded resources and an offline speech voice are needed.</a:t>
            </a:r>
          </a:p>
        </p:txBody>
      </p:sp>
      <p:sp>
        <p:nvSpPr>
          <p:cNvPr name="TextBox 13" id="13"/>
          <p:cNvSpPr txBox="true"/>
          <p:nvPr/>
        </p:nvSpPr>
        <p:spPr>
          <a:xfrm rot="0">
            <a:off x="1524000" y="8258175"/>
            <a:ext cx="14859000" cy="33337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Minimum specs and full mobile support are not established. Typed questions provide a fallback.</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prototype: browser APIs and local deployment requirements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How does the printable version work?</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A8</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Mapped outlines become an SVG for a tactile-printing workflow.</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Reuse the traced regions</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Export outlines with basic uncontracted braille labels.</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Keep crowded labels readable</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The export uses numbered keys when a full label does not fit.</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Create raised lines</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Swell paper and a heat fuser turn a suitable print into a tactile graphic.</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Ordinary paper stays flat. Physical print quality and braille readability still need validation.</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Sources: TouchSight SVG exporter; Perkins School for the Blind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Who could use this beyond school?</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A9</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The wider goal is access to prepared visual information.</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First use case</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Students explore labeled diagrams with content a teacher prepares.</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Potential extensions</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Charts, reference maps and visual instructions could use the same approach.</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A route to adoption</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Pilot with accessibility groups and educators, then build reusable templates.</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Wider uses are proposals. Live navigation, universal access and a business model are not validated.</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Proposed use cases and adoption path</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What would you do next?</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A10</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Validate the experience with users before expanding it.</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Co-design a small pilot</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Invite blind and low-vision participants and accessibility educators.</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Measure useful outcomes</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Track target accuracy, completion time, comfort and authoring effort.</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Improve the biggest barriers</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Refine onboarding, test more devices and assist region mapping.</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The next milestone is evidence of usefulness, followed by broader deployment.</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Proposed evaluation and development plan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How does it know which part you are on?</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A11</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It checks your position against the regions saved with the image.</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1. Save a region map</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Each traced shape stores its boundary points, label and explanation.</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2. Check the cursor</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The app checks which shape contains your position. Smaller nested parts take priority.</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3. Keep selection steady</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The cell example adds a buffer around thin parts to reduce accidental switching.</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The cell's printed-label highlights use prepared associations. Automatic label detection is future work.</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logic: saved region polygons, hit testing and cell annotations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76500" y="1428750"/>
            <a:ext cx="13049250" cy="904875"/>
          </a:xfrm>
          <a:prstGeom prst="rect">
            <a:avLst/>
          </a:prstGeom>
        </p:spPr>
        <p:txBody>
          <a:bodyPr anchor="t" rtlCol="false" tIns="0" lIns="0" bIns="0" rIns="0">
            <a:spAutoFit/>
          </a:bodyPr>
          <a:lstStyle/>
          <a:p>
            <a:pPr algn="l">
              <a:lnSpc>
                <a:spcPts val="5580"/>
              </a:lnSpc>
            </a:pPr>
            <a:r>
              <a:rPr lang="en-US" sz="4650" b="true">
                <a:solidFill>
                  <a:srgbClr val="1D3266"/>
                </a:solidFill>
                <a:latin typeface="League Spartan"/>
                <a:ea typeface="League Spartan"/>
                <a:cs typeface="League Spartan"/>
                <a:sym typeface="League Spartan"/>
              </a:rPr>
              <a:t>How does a position become sound?</a:t>
            </a:r>
          </a:p>
        </p:txBody>
      </p:sp>
      <p:sp>
        <p:nvSpPr>
          <p:cNvPr name="TextBox 5" id="5"/>
          <p:cNvSpPr txBox="true"/>
          <p:nvPr/>
        </p:nvSpPr>
        <p:spPr>
          <a:xfrm rot="0">
            <a:off x="15811500" y="1552575"/>
            <a:ext cx="1095375" cy="628650"/>
          </a:xfrm>
          <a:prstGeom prst="rect">
            <a:avLst/>
          </a:prstGeom>
        </p:spPr>
        <p:txBody>
          <a:bodyPr anchor="t" rtlCol="false" tIns="0" lIns="0" bIns="0" rIns="0">
            <a:spAutoFit/>
          </a:bodyPr>
          <a:lstStyle/>
          <a:p>
            <a:pPr algn="l">
              <a:lnSpc>
                <a:spcPts val="3600"/>
              </a:lnSpc>
            </a:pPr>
            <a:r>
              <a:rPr lang="en-US" sz="3000" b="true">
                <a:solidFill>
                  <a:srgbClr val="0666FF"/>
                </a:solidFill>
                <a:latin typeface="League Spartan"/>
                <a:ea typeface="League Spartan"/>
                <a:cs typeface="League Spartan"/>
                <a:sym typeface="League Spartan"/>
              </a:rPr>
              <a:t>A12</a:t>
            </a:r>
          </a:p>
        </p:txBody>
      </p:sp>
      <p:sp>
        <p:nvSpPr>
          <p:cNvPr name="TextBox 6" id="6"/>
          <p:cNvSpPr txBox="true"/>
          <p:nvPr/>
        </p:nvSpPr>
        <p:spPr>
          <a:xfrm rot="0">
            <a:off x="1524000" y="2962275"/>
            <a:ext cx="14763750" cy="1133475"/>
          </a:xfrm>
          <a:prstGeom prst="rect">
            <a:avLst/>
          </a:prstGeom>
        </p:spPr>
        <p:txBody>
          <a:bodyPr anchor="t" rtlCol="false" tIns="0" lIns="0" bIns="0" rIns="0">
            <a:spAutoFit/>
          </a:bodyPr>
          <a:lstStyle/>
          <a:p>
            <a:pPr algn="l">
              <a:lnSpc>
                <a:spcPts val="4140"/>
              </a:lnSpc>
            </a:pPr>
            <a:r>
              <a:rPr lang="en-US" sz="3450" b="true">
                <a:solidFill>
                  <a:srgbClr val="0666FF"/>
                </a:solidFill>
                <a:latin typeface="League Spartan"/>
                <a:ea typeface="League Spartan"/>
                <a:cs typeface="League Spartan"/>
                <a:sym typeface="League Spartan"/>
              </a:rPr>
              <a:t>The same screen position always produces the same location cues.</a:t>
            </a:r>
          </a:p>
        </p:txBody>
      </p:sp>
      <p:sp>
        <p:nvSpPr>
          <p:cNvPr name="TextBox 7" id="7"/>
          <p:cNvSpPr txBox="true"/>
          <p:nvPr/>
        </p:nvSpPr>
        <p:spPr>
          <a:xfrm rot="0">
            <a:off x="1524000" y="452437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1. Left/right becomes stereo</a:t>
            </a:r>
          </a:p>
        </p:txBody>
      </p:sp>
      <p:sp>
        <p:nvSpPr>
          <p:cNvPr name="TextBox 8" id="8"/>
          <p:cNvSpPr txBox="true"/>
          <p:nvPr/>
        </p:nvSpPr>
        <p:spPr>
          <a:xfrm rot="0">
            <a:off x="6286500" y="453390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Move left and the sound pans left. Move right and it pans right.</a:t>
            </a:r>
          </a:p>
        </p:txBody>
      </p:sp>
      <p:sp>
        <p:nvSpPr>
          <p:cNvPr name="TextBox 9" id="9"/>
          <p:cNvSpPr txBox="true"/>
          <p:nvPr/>
        </p:nvSpPr>
        <p:spPr>
          <a:xfrm rot="0">
            <a:off x="1524000" y="5715000"/>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2. Height becomes pitch</a:t>
            </a:r>
          </a:p>
        </p:txBody>
      </p:sp>
      <p:sp>
        <p:nvSpPr>
          <p:cNvPr name="TextBox 10" id="10"/>
          <p:cNvSpPr txBox="true"/>
          <p:nvPr/>
        </p:nvSpPr>
        <p:spPr>
          <a:xfrm rot="0">
            <a:off x="6286500" y="5724525"/>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Bottom: 220 Hz. Middle: 440 Hz. Top: 880 Hz.</a:t>
            </a:r>
          </a:p>
        </p:txBody>
      </p:sp>
      <p:sp>
        <p:nvSpPr>
          <p:cNvPr name="TextBox 11" id="11"/>
          <p:cNvSpPr txBox="true"/>
          <p:nvPr/>
        </p:nvSpPr>
        <p:spPr>
          <a:xfrm rot="0">
            <a:off x="1524000" y="6905625"/>
            <a:ext cx="4572000" cy="962025"/>
          </a:xfrm>
          <a:prstGeom prst="rect">
            <a:avLst/>
          </a:prstGeom>
        </p:spPr>
        <p:txBody>
          <a:bodyPr anchor="t" rtlCol="false" tIns="0" lIns="0" bIns="0" rIns="0">
            <a:spAutoFit/>
          </a:bodyPr>
          <a:lstStyle/>
          <a:p>
            <a:pPr algn="l">
              <a:lnSpc>
                <a:spcPts val="3600"/>
              </a:lnSpc>
            </a:pPr>
            <a:r>
              <a:rPr lang="en-US" sz="3000" b="true">
                <a:solidFill>
                  <a:srgbClr val="1D3266"/>
                </a:solidFill>
                <a:latin typeface="League Spartan"/>
                <a:ea typeface="League Spartan"/>
                <a:cs typeface="League Spartan"/>
                <a:sym typeface="League Spartan"/>
              </a:rPr>
              <a:t>3. Region changes add meaning</a:t>
            </a:r>
          </a:p>
        </p:txBody>
      </p:sp>
      <p:sp>
        <p:nvSpPr>
          <p:cNvPr name="TextBox 12" id="12"/>
          <p:cNvSpPr txBox="true"/>
          <p:nvPr/>
        </p:nvSpPr>
        <p:spPr>
          <a:xfrm rot="0">
            <a:off x="6286500" y="6915150"/>
            <a:ext cx="10287000" cy="1009650"/>
          </a:xfrm>
          <a:prstGeom prst="rect">
            <a:avLst/>
          </a:prstGeom>
        </p:spPr>
        <p:txBody>
          <a:bodyPr anchor="t" rtlCol="false" tIns="0" lIns="0" bIns="0" rIns="0">
            <a:spAutoFit/>
          </a:bodyPr>
          <a:lstStyle/>
          <a:p>
            <a:pPr algn="l">
              <a:lnSpc>
                <a:spcPts val="3510"/>
              </a:lnSpc>
            </a:pPr>
            <a:r>
              <a:rPr lang="en-US" sz="2925">
                <a:solidFill>
                  <a:srgbClr val="324A6C"/>
                </a:solidFill>
                <a:latin typeface="League Spartan"/>
                <a:ea typeface="League Spartan"/>
                <a:cs typeface="League Spartan"/>
                <a:sym typeface="League Spartan"/>
              </a:rPr>
              <a:t>A transition triggers a thunk. Entering a part speaks its saved label.</a:t>
            </a:r>
          </a:p>
        </p:txBody>
      </p:sp>
      <p:sp>
        <p:nvSpPr>
          <p:cNvPr name="TextBox 13" id="13"/>
          <p:cNvSpPr txBox="true"/>
          <p:nvPr/>
        </p:nvSpPr>
        <p:spPr>
          <a:xfrm rot="0">
            <a:off x="1524000" y="8258175"/>
            <a:ext cx="14859000" cy="657225"/>
          </a:xfrm>
          <a:prstGeom prst="rect">
            <a:avLst/>
          </a:prstGeom>
        </p:spPr>
        <p:txBody>
          <a:bodyPr anchor="t" rtlCol="false" tIns="0" lIns="0" bIns="0" rIns="0">
            <a:spAutoFit/>
          </a:bodyPr>
          <a:lstStyle/>
          <a:p>
            <a:pPr algn="l">
              <a:lnSpc>
                <a:spcPts val="2610"/>
              </a:lnSpc>
            </a:pPr>
            <a:r>
              <a:rPr lang="en-US" sz="2175">
                <a:solidFill>
                  <a:srgbClr val="425B7B"/>
                </a:solidFill>
                <a:latin typeface="League Spartan"/>
                <a:ea typeface="League Spartan"/>
                <a:cs typeface="League Spartan"/>
                <a:sym typeface="League Spartan"/>
              </a:rPr>
              <a:t>Example: near the top-left means a higher tone, panned left. Headphones make stereo cues clearer.</a:t>
            </a:r>
          </a:p>
        </p:txBody>
      </p:sp>
      <p:sp>
        <p:nvSpPr>
          <p:cNvPr name="TextBox 14" id="14"/>
          <p:cNvSpPr txBox="true"/>
          <p:nvPr/>
        </p:nvSpPr>
        <p:spPr>
          <a:xfrm rot="0">
            <a:off x="1524000" y="9220200"/>
            <a:ext cx="12477750" cy="571500"/>
          </a:xfrm>
          <a:prstGeom prst="rect">
            <a:avLst/>
          </a:prstGeom>
        </p:spPr>
        <p:txBody>
          <a:bodyPr anchor="t" rtlCol="false" tIns="0" lIns="0" bIns="0" rIns="0">
            <a:spAutoFit/>
          </a:bodyPr>
          <a:lstStyle/>
          <a:p>
            <a:pPr algn="l">
              <a:lnSpc>
                <a:spcPts val="1980"/>
              </a:lnSpc>
            </a:pPr>
            <a:r>
              <a:rPr lang="en-US" sz="1650">
                <a:solidFill>
                  <a:srgbClr val="425B7B"/>
                </a:solidFill>
                <a:latin typeface="League Spartan"/>
                <a:ea typeface="League Spartan"/>
                <a:cs typeface="League Spartan"/>
                <a:sym typeface="League Spartan"/>
              </a:rPr>
              <a:t>Current logic: Web Audio position mapping and region-change events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03871"/>
            <a:ext cx="18333267" cy="8254429"/>
          </a:xfrm>
          <a:custGeom>
            <a:avLst/>
            <a:gdLst/>
            <a:ahLst/>
            <a:cxnLst/>
            <a:rect r="r" b="b" t="t" l="l"/>
            <a:pathLst>
              <a:path h="8254429" w="18333267">
                <a:moveTo>
                  <a:pt x="0" y="0"/>
                </a:moveTo>
                <a:lnTo>
                  <a:pt x="18333267" y="0"/>
                </a:lnTo>
                <a:lnTo>
                  <a:pt x="18333267" y="8254429"/>
                </a:lnTo>
                <a:lnTo>
                  <a:pt x="0" y="8254429"/>
                </a:lnTo>
                <a:lnTo>
                  <a:pt x="0" y="0"/>
                </a:lnTo>
                <a:close/>
              </a:path>
            </a:pathLst>
          </a:custGeom>
          <a:blipFill>
            <a:blip r:embed="rId2"/>
            <a:stretch>
              <a:fillRect l="0" t="-12161"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DAG_idujmnw</dc:identifier>
  <dcterms:modified xsi:type="dcterms:W3CDTF">2011-08-01T06:04:30Z</dcterms:modified>
  <cp:revision>1</cp:revision>
  <dc:title>TouchSight HelloHacks</dc:title>
</cp:coreProperties>
</file>